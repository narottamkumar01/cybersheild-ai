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34" d="100"/>
          <a:sy n="34" d="100"/>
        </p:scale>
        <p:origin x="65" y="11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000" b="1" i="0">
                <a:solidFill>
                  <a:schemeClr val="tx1"/>
                </a:solidFill>
                <a:latin typeface="Cambria"/>
                <a:cs typeface="Cambri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865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865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Cambria"/>
                <a:cs typeface="Cambri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84579" y="1944051"/>
            <a:ext cx="10410190" cy="635000"/>
          </a:xfrm>
          <a:prstGeom prst="rect">
            <a:avLst/>
          </a:prstGeom>
        </p:spPr>
        <p:txBody>
          <a:bodyPr wrap="square" lIns="0" tIns="0" rIns="0" bIns="0">
            <a:spAutoFit/>
          </a:bodyPr>
          <a:lstStyle>
            <a:lvl1pPr>
              <a:defRPr sz="4000" b="1" i="0">
                <a:solidFill>
                  <a:schemeClr val="tx1"/>
                </a:solidFill>
                <a:latin typeface="Cambria"/>
                <a:cs typeface="Cambria"/>
              </a:defRPr>
            </a:lvl1pPr>
          </a:lstStyle>
          <a:p>
            <a:endParaRPr/>
          </a:p>
        </p:txBody>
      </p:sp>
      <p:sp>
        <p:nvSpPr>
          <p:cNvPr id="3" name="Holder 3"/>
          <p:cNvSpPr>
            <a:spLocks noGrp="1"/>
          </p:cNvSpPr>
          <p:nvPr>
            <p:ph type="body" idx="1"/>
          </p:nvPr>
        </p:nvSpPr>
        <p:spPr>
          <a:xfrm>
            <a:off x="1071883" y="2546734"/>
            <a:ext cx="11873230" cy="2127250"/>
          </a:xfrm>
          <a:prstGeom prst="rect">
            <a:avLst/>
          </a:prstGeom>
        </p:spPr>
        <p:txBody>
          <a:bodyPr wrap="square" lIns="0" tIns="0" rIns="0" bIns="0">
            <a:spAutoFit/>
          </a:bodyPr>
          <a:lstStyle>
            <a:lvl1pPr>
              <a:defRPr sz="8650" b="0" i="0">
                <a:solidFill>
                  <a:schemeClr val="tx1"/>
                </a:solidFill>
                <a:latin typeface="Cambria"/>
                <a:cs typeface="Cambria"/>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7/19/2026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mailto:Narottam.bxr8845@gmail.com"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71883" y="5291567"/>
            <a:ext cx="8072118" cy="854710"/>
          </a:xfrm>
          <a:custGeom>
            <a:avLst/>
            <a:gdLst/>
            <a:ahLst/>
            <a:cxnLst/>
            <a:rect l="l" t="t" r="r" b="b"/>
            <a:pathLst>
              <a:path w="7522845" h="854710">
                <a:moveTo>
                  <a:pt x="427211" y="0"/>
                </a:moveTo>
                <a:lnTo>
                  <a:pt x="7095547" y="0"/>
                </a:lnTo>
                <a:lnTo>
                  <a:pt x="7143752" y="2726"/>
                </a:lnTo>
                <a:lnTo>
                  <a:pt x="7190971" y="10791"/>
                </a:lnTo>
                <a:lnTo>
                  <a:pt x="7236784" y="24021"/>
                </a:lnTo>
                <a:lnTo>
                  <a:pt x="7280776" y="42243"/>
                </a:lnTo>
                <a:lnTo>
                  <a:pt x="7322526" y="65283"/>
                </a:lnTo>
                <a:lnTo>
                  <a:pt x="7361617" y="92969"/>
                </a:lnTo>
                <a:lnTo>
                  <a:pt x="7397631" y="125126"/>
                </a:lnTo>
                <a:lnTo>
                  <a:pt x="7429789" y="161141"/>
                </a:lnTo>
                <a:lnTo>
                  <a:pt x="7457475" y="200232"/>
                </a:lnTo>
                <a:lnTo>
                  <a:pt x="7480515" y="241982"/>
                </a:lnTo>
                <a:lnTo>
                  <a:pt x="7498737" y="285973"/>
                </a:lnTo>
                <a:lnTo>
                  <a:pt x="7511967" y="331787"/>
                </a:lnTo>
                <a:lnTo>
                  <a:pt x="7520032" y="379006"/>
                </a:lnTo>
                <a:lnTo>
                  <a:pt x="7522759" y="427211"/>
                </a:lnTo>
                <a:lnTo>
                  <a:pt x="7520032" y="475415"/>
                </a:lnTo>
                <a:lnTo>
                  <a:pt x="7511967" y="522634"/>
                </a:lnTo>
                <a:lnTo>
                  <a:pt x="7498737" y="568448"/>
                </a:lnTo>
                <a:lnTo>
                  <a:pt x="7480515" y="612439"/>
                </a:lnTo>
                <a:lnTo>
                  <a:pt x="7457475" y="654189"/>
                </a:lnTo>
                <a:lnTo>
                  <a:pt x="7429789" y="693280"/>
                </a:lnTo>
                <a:lnTo>
                  <a:pt x="7397631" y="729295"/>
                </a:lnTo>
                <a:lnTo>
                  <a:pt x="7361617" y="761452"/>
                </a:lnTo>
                <a:lnTo>
                  <a:pt x="7322526" y="789138"/>
                </a:lnTo>
                <a:lnTo>
                  <a:pt x="7280776" y="812178"/>
                </a:lnTo>
                <a:lnTo>
                  <a:pt x="7236784" y="830400"/>
                </a:lnTo>
                <a:lnTo>
                  <a:pt x="7190971" y="843630"/>
                </a:lnTo>
                <a:lnTo>
                  <a:pt x="7143752" y="851695"/>
                </a:lnTo>
                <a:lnTo>
                  <a:pt x="7095547" y="854422"/>
                </a:lnTo>
                <a:lnTo>
                  <a:pt x="427211" y="854422"/>
                </a:lnTo>
                <a:lnTo>
                  <a:pt x="379006" y="851695"/>
                </a:lnTo>
                <a:lnTo>
                  <a:pt x="331787" y="843630"/>
                </a:lnTo>
                <a:lnTo>
                  <a:pt x="285974" y="830400"/>
                </a:lnTo>
                <a:lnTo>
                  <a:pt x="241982" y="812178"/>
                </a:lnTo>
                <a:lnTo>
                  <a:pt x="200232" y="789138"/>
                </a:lnTo>
                <a:lnTo>
                  <a:pt x="161141" y="761452"/>
                </a:lnTo>
                <a:lnTo>
                  <a:pt x="125127" y="729294"/>
                </a:lnTo>
                <a:lnTo>
                  <a:pt x="92969" y="693280"/>
                </a:lnTo>
                <a:lnTo>
                  <a:pt x="65283" y="654189"/>
                </a:lnTo>
                <a:lnTo>
                  <a:pt x="42243" y="612439"/>
                </a:lnTo>
                <a:lnTo>
                  <a:pt x="24021" y="568448"/>
                </a:lnTo>
                <a:lnTo>
                  <a:pt x="10791" y="522634"/>
                </a:lnTo>
                <a:lnTo>
                  <a:pt x="2726" y="475415"/>
                </a:lnTo>
                <a:lnTo>
                  <a:pt x="0" y="427211"/>
                </a:lnTo>
                <a:lnTo>
                  <a:pt x="2726" y="379006"/>
                </a:lnTo>
                <a:lnTo>
                  <a:pt x="10791" y="331787"/>
                </a:lnTo>
                <a:lnTo>
                  <a:pt x="24021" y="285973"/>
                </a:lnTo>
                <a:lnTo>
                  <a:pt x="42243" y="241982"/>
                </a:lnTo>
                <a:lnTo>
                  <a:pt x="65283" y="200232"/>
                </a:lnTo>
                <a:lnTo>
                  <a:pt x="92969" y="161141"/>
                </a:lnTo>
                <a:lnTo>
                  <a:pt x="125127" y="125127"/>
                </a:lnTo>
                <a:lnTo>
                  <a:pt x="161141" y="92969"/>
                </a:lnTo>
                <a:lnTo>
                  <a:pt x="200232" y="65283"/>
                </a:lnTo>
                <a:lnTo>
                  <a:pt x="241982" y="42243"/>
                </a:lnTo>
                <a:lnTo>
                  <a:pt x="285974" y="24021"/>
                </a:lnTo>
                <a:lnTo>
                  <a:pt x="331787" y="10791"/>
                </a:lnTo>
                <a:lnTo>
                  <a:pt x="379006" y="2726"/>
                </a:lnTo>
                <a:lnTo>
                  <a:pt x="427211" y="0"/>
                </a:lnTo>
              </a:path>
            </a:pathLst>
          </a:custGeom>
          <a:ln w="38099">
            <a:solidFill>
              <a:srgbClr val="000000"/>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2586110" y="4681123"/>
            <a:ext cx="3768030" cy="3759200"/>
          </a:xfrm>
          <a:prstGeom prst="rect">
            <a:avLst/>
          </a:prstGeom>
        </p:spPr>
      </p:pic>
      <p:pic>
        <p:nvPicPr>
          <p:cNvPr id="4" name="object 4"/>
          <p:cNvPicPr/>
          <p:nvPr/>
        </p:nvPicPr>
        <p:blipFill>
          <a:blip r:embed="rId3" cstate="print"/>
          <a:stretch>
            <a:fillRect/>
          </a:stretch>
        </p:blipFill>
        <p:spPr>
          <a:xfrm>
            <a:off x="1250318" y="370805"/>
            <a:ext cx="1325879" cy="1026495"/>
          </a:xfrm>
          <a:prstGeom prst="rect">
            <a:avLst/>
          </a:prstGeom>
        </p:spPr>
      </p:pic>
      <p:sp>
        <p:nvSpPr>
          <p:cNvPr id="5" name="object 5"/>
          <p:cNvSpPr txBox="1"/>
          <p:nvPr/>
        </p:nvSpPr>
        <p:spPr>
          <a:xfrm>
            <a:off x="1257936" y="1362857"/>
            <a:ext cx="1357630" cy="484505"/>
          </a:xfrm>
          <a:prstGeom prst="rect">
            <a:avLst/>
          </a:prstGeom>
        </p:spPr>
        <p:txBody>
          <a:bodyPr vert="horz" wrap="square" lIns="0" tIns="12700" rIns="0" bIns="0" rtlCol="0">
            <a:spAutoFit/>
          </a:bodyPr>
          <a:lstStyle/>
          <a:p>
            <a:pPr marL="12065" marR="5080" indent="-20320" algn="ctr">
              <a:lnSpc>
                <a:spcPct val="111500"/>
              </a:lnSpc>
              <a:spcBef>
                <a:spcPts val="100"/>
              </a:spcBef>
            </a:pPr>
            <a:r>
              <a:rPr sz="900" b="1" spc="10" dirty="0">
                <a:solidFill>
                  <a:srgbClr val="004AAC"/>
                </a:solidFill>
                <a:latin typeface="Trebuchet MS"/>
                <a:cs typeface="Trebuchet MS"/>
              </a:rPr>
              <a:t>INSTITUTE</a:t>
            </a:r>
            <a:r>
              <a:rPr sz="900" b="1" spc="70" dirty="0">
                <a:solidFill>
                  <a:srgbClr val="004AAC"/>
                </a:solidFill>
                <a:latin typeface="Trebuchet MS"/>
                <a:cs typeface="Trebuchet MS"/>
              </a:rPr>
              <a:t> </a:t>
            </a:r>
            <a:r>
              <a:rPr sz="900" b="1" spc="-10" dirty="0">
                <a:solidFill>
                  <a:srgbClr val="004AAC"/>
                </a:solidFill>
                <a:latin typeface="Trebuchet MS"/>
                <a:cs typeface="Trebuchet MS"/>
              </a:rPr>
              <a:t>INCUBATION</a:t>
            </a:r>
            <a:r>
              <a:rPr sz="900" b="1" spc="500" dirty="0">
                <a:solidFill>
                  <a:srgbClr val="004AAC"/>
                </a:solidFill>
                <a:latin typeface="Trebuchet MS"/>
                <a:cs typeface="Trebuchet MS"/>
              </a:rPr>
              <a:t> </a:t>
            </a:r>
            <a:r>
              <a:rPr sz="900" b="1" dirty="0">
                <a:solidFill>
                  <a:srgbClr val="004AAC"/>
                </a:solidFill>
                <a:latin typeface="Trebuchet MS"/>
                <a:cs typeface="Trebuchet MS"/>
              </a:rPr>
              <a:t>&amp;</a:t>
            </a:r>
            <a:r>
              <a:rPr sz="900" b="1" spc="15" dirty="0">
                <a:solidFill>
                  <a:srgbClr val="004AAC"/>
                </a:solidFill>
                <a:latin typeface="Trebuchet MS"/>
                <a:cs typeface="Trebuchet MS"/>
              </a:rPr>
              <a:t> </a:t>
            </a:r>
            <a:r>
              <a:rPr sz="900" b="1" dirty="0">
                <a:solidFill>
                  <a:srgbClr val="004AAC"/>
                </a:solidFill>
                <a:latin typeface="Trebuchet MS"/>
                <a:cs typeface="Trebuchet MS"/>
              </a:rPr>
              <a:t>INNOVATION</a:t>
            </a:r>
            <a:r>
              <a:rPr sz="900" b="1" spc="20" dirty="0">
                <a:solidFill>
                  <a:srgbClr val="004AAC"/>
                </a:solidFill>
                <a:latin typeface="Trebuchet MS"/>
                <a:cs typeface="Trebuchet MS"/>
              </a:rPr>
              <a:t> </a:t>
            </a:r>
            <a:r>
              <a:rPr sz="900" b="1" spc="-10" dirty="0">
                <a:solidFill>
                  <a:srgbClr val="004AAC"/>
                </a:solidFill>
                <a:latin typeface="Trebuchet MS"/>
                <a:cs typeface="Trebuchet MS"/>
              </a:rPr>
              <a:t>COUNCIL </a:t>
            </a:r>
            <a:r>
              <a:rPr sz="900" b="1" dirty="0">
                <a:solidFill>
                  <a:srgbClr val="004AAC"/>
                </a:solidFill>
                <a:latin typeface="Trebuchet MS"/>
                <a:cs typeface="Trebuchet MS"/>
              </a:rPr>
              <a:t>(I3C)</a:t>
            </a:r>
            <a:r>
              <a:rPr sz="900" b="1" spc="-15" dirty="0">
                <a:solidFill>
                  <a:srgbClr val="004AAC"/>
                </a:solidFill>
                <a:latin typeface="Trebuchet MS"/>
                <a:cs typeface="Trebuchet MS"/>
              </a:rPr>
              <a:t> </a:t>
            </a:r>
            <a:r>
              <a:rPr sz="900" b="1" spc="100" dirty="0">
                <a:solidFill>
                  <a:srgbClr val="004AAC"/>
                </a:solidFill>
                <a:latin typeface="Trebuchet MS"/>
                <a:cs typeface="Trebuchet MS"/>
              </a:rPr>
              <a:t>-</a:t>
            </a:r>
            <a:r>
              <a:rPr sz="900" b="1" spc="-10" dirty="0">
                <a:solidFill>
                  <a:srgbClr val="004AAC"/>
                </a:solidFill>
                <a:latin typeface="Trebuchet MS"/>
                <a:cs typeface="Trebuchet MS"/>
              </a:rPr>
              <a:t> </a:t>
            </a:r>
            <a:r>
              <a:rPr sz="900" b="1" dirty="0">
                <a:solidFill>
                  <a:srgbClr val="004AAC"/>
                </a:solidFill>
                <a:latin typeface="Trebuchet MS"/>
                <a:cs typeface="Trebuchet MS"/>
              </a:rPr>
              <a:t>IIT</a:t>
            </a:r>
            <a:r>
              <a:rPr sz="900" b="1" spc="-10" dirty="0">
                <a:solidFill>
                  <a:srgbClr val="004AAC"/>
                </a:solidFill>
                <a:latin typeface="Trebuchet MS"/>
                <a:cs typeface="Trebuchet MS"/>
              </a:rPr>
              <a:t> </a:t>
            </a:r>
            <a:r>
              <a:rPr sz="900" b="1" spc="35" dirty="0">
                <a:solidFill>
                  <a:srgbClr val="004AAC"/>
                </a:solidFill>
                <a:latin typeface="Trebuchet MS"/>
                <a:cs typeface="Trebuchet MS"/>
              </a:rPr>
              <a:t>JAMMU</a:t>
            </a:r>
            <a:endParaRPr sz="900">
              <a:latin typeface="Trebuchet MS"/>
              <a:cs typeface="Trebuchet MS"/>
            </a:endParaRPr>
          </a:p>
        </p:txBody>
      </p:sp>
      <p:pic>
        <p:nvPicPr>
          <p:cNvPr id="6" name="object 6"/>
          <p:cNvPicPr/>
          <p:nvPr/>
        </p:nvPicPr>
        <p:blipFill>
          <a:blip r:embed="rId4" cstate="print"/>
          <a:stretch>
            <a:fillRect/>
          </a:stretch>
        </p:blipFill>
        <p:spPr>
          <a:xfrm>
            <a:off x="14902814" y="351637"/>
            <a:ext cx="1533524" cy="1562099"/>
          </a:xfrm>
          <a:prstGeom prst="rect">
            <a:avLst/>
          </a:prstGeom>
        </p:spPr>
      </p:pic>
      <p:sp>
        <p:nvSpPr>
          <p:cNvPr id="7" name="object 7"/>
          <p:cNvSpPr txBox="1"/>
          <p:nvPr/>
        </p:nvSpPr>
        <p:spPr>
          <a:xfrm>
            <a:off x="15239716" y="1795123"/>
            <a:ext cx="960755" cy="299720"/>
          </a:xfrm>
          <a:prstGeom prst="rect">
            <a:avLst/>
          </a:prstGeom>
        </p:spPr>
        <p:txBody>
          <a:bodyPr vert="horz" wrap="square" lIns="0" tIns="12065" rIns="0" bIns="0" rtlCol="0">
            <a:spAutoFit/>
          </a:bodyPr>
          <a:lstStyle/>
          <a:p>
            <a:pPr marL="12700">
              <a:lnSpc>
                <a:spcPct val="100000"/>
              </a:lnSpc>
              <a:spcBef>
                <a:spcPts val="95"/>
              </a:spcBef>
            </a:pPr>
            <a:r>
              <a:rPr sz="1800" b="1" spc="-10" dirty="0">
                <a:solidFill>
                  <a:srgbClr val="1C7EB4"/>
                </a:solidFill>
                <a:latin typeface="Arial"/>
                <a:cs typeface="Arial"/>
              </a:rPr>
              <a:t>Techible</a:t>
            </a:r>
            <a:endParaRPr sz="1800">
              <a:latin typeface="Arial"/>
              <a:cs typeface="Arial"/>
            </a:endParaRPr>
          </a:p>
        </p:txBody>
      </p:sp>
      <p:sp>
        <p:nvSpPr>
          <p:cNvPr id="8" name="object 8"/>
          <p:cNvSpPr txBox="1">
            <a:spLocks noGrp="1"/>
          </p:cNvSpPr>
          <p:nvPr>
            <p:ph type="body" idx="1"/>
          </p:nvPr>
        </p:nvSpPr>
        <p:spPr>
          <a:xfrm>
            <a:off x="1071883" y="2546734"/>
            <a:ext cx="11873230" cy="2160207"/>
          </a:xfrm>
          <a:prstGeom prst="rect">
            <a:avLst/>
          </a:prstGeom>
        </p:spPr>
        <p:txBody>
          <a:bodyPr vert="horz" wrap="square" lIns="0" tIns="15875" rIns="0" bIns="0" rtlCol="0">
            <a:spAutoFit/>
          </a:bodyPr>
          <a:lstStyle/>
          <a:p>
            <a:pPr marL="12700">
              <a:lnSpc>
                <a:spcPct val="100000"/>
              </a:lnSpc>
              <a:spcBef>
                <a:spcPts val="125"/>
              </a:spcBef>
            </a:pPr>
            <a:r>
              <a:rPr lang="en-IN" spc="-120" dirty="0"/>
              <a:t>CyberShield AI</a:t>
            </a:r>
            <a:endParaRPr lang="en-US" spc="-50" dirty="0"/>
          </a:p>
          <a:p>
            <a:pPr marL="229870">
              <a:lnSpc>
                <a:spcPct val="100000"/>
              </a:lnSpc>
              <a:spcBef>
                <a:spcPts val="2545"/>
              </a:spcBef>
            </a:pPr>
            <a:r>
              <a:rPr lang="en-US" sz="3200" dirty="0"/>
              <a:t>Helping people identify digital scams before they become victims.</a:t>
            </a:r>
            <a:endParaRPr lang="en-US" sz="3000" dirty="0">
              <a:latin typeface="Cambria"/>
              <a:cs typeface="Cambria"/>
            </a:endParaRPr>
          </a:p>
        </p:txBody>
      </p:sp>
      <p:sp>
        <p:nvSpPr>
          <p:cNvPr id="9" name="object 9" descr="$PPTXTitle"/>
          <p:cNvSpPr txBox="1">
            <a:spLocks noGrp="1"/>
          </p:cNvSpPr>
          <p:nvPr>
            <p:ph type="title"/>
          </p:nvPr>
        </p:nvSpPr>
        <p:spPr>
          <a:xfrm>
            <a:off x="5957058" y="421706"/>
            <a:ext cx="6494145" cy="1569720"/>
          </a:xfrm>
          <a:prstGeom prst="rect">
            <a:avLst/>
          </a:prstGeom>
        </p:spPr>
        <p:txBody>
          <a:bodyPr vert="horz" wrap="square" lIns="0" tIns="13335" rIns="0" bIns="0" rtlCol="0">
            <a:spAutoFit/>
          </a:bodyPr>
          <a:lstStyle/>
          <a:p>
            <a:pPr marL="12700" marR="5080" indent="126364">
              <a:lnSpc>
                <a:spcPct val="100200"/>
              </a:lnSpc>
              <a:spcBef>
                <a:spcPts val="105"/>
              </a:spcBef>
            </a:pPr>
            <a:r>
              <a:rPr sz="5050" dirty="0">
                <a:solidFill>
                  <a:srgbClr val="FAC818"/>
                </a:solidFill>
              </a:rPr>
              <a:t>SUMMER</a:t>
            </a:r>
            <a:r>
              <a:rPr sz="5050" spc="-35" dirty="0">
                <a:solidFill>
                  <a:srgbClr val="FAC818"/>
                </a:solidFill>
              </a:rPr>
              <a:t> </a:t>
            </a:r>
            <a:r>
              <a:rPr sz="5050" spc="-10" dirty="0">
                <a:solidFill>
                  <a:srgbClr val="FAC818"/>
                </a:solidFill>
              </a:rPr>
              <a:t>SCHOOL'26 </a:t>
            </a:r>
            <a:r>
              <a:rPr sz="5050" dirty="0">
                <a:solidFill>
                  <a:srgbClr val="FAC818"/>
                </a:solidFill>
              </a:rPr>
              <a:t>AI</a:t>
            </a:r>
            <a:r>
              <a:rPr sz="5050" spc="-70" dirty="0">
                <a:solidFill>
                  <a:srgbClr val="FAC818"/>
                </a:solidFill>
              </a:rPr>
              <a:t> </a:t>
            </a:r>
            <a:r>
              <a:rPr sz="5050" dirty="0"/>
              <a:t>FIRST</a:t>
            </a:r>
            <a:r>
              <a:rPr sz="5050" spc="-65" dirty="0"/>
              <a:t> </a:t>
            </a:r>
            <a:r>
              <a:rPr sz="5050" spc="-45" dirty="0">
                <a:solidFill>
                  <a:srgbClr val="FAC818"/>
                </a:solidFill>
              </a:rPr>
              <a:t>H</a:t>
            </a:r>
            <a:r>
              <a:rPr sz="5050" spc="-45" dirty="0"/>
              <a:t>ACKATHON</a:t>
            </a:r>
            <a:endParaRPr sz="5050"/>
          </a:p>
        </p:txBody>
      </p:sp>
      <p:sp>
        <p:nvSpPr>
          <p:cNvPr id="10" name="object 10"/>
          <p:cNvSpPr txBox="1"/>
          <p:nvPr/>
        </p:nvSpPr>
        <p:spPr>
          <a:xfrm>
            <a:off x="1250318" y="5631711"/>
            <a:ext cx="9949482" cy="3629199"/>
          </a:xfrm>
          <a:prstGeom prst="rect">
            <a:avLst/>
          </a:prstGeom>
        </p:spPr>
        <p:txBody>
          <a:bodyPr vert="horz" wrap="square" lIns="0" tIns="12700" rIns="0" bIns="0" rtlCol="0">
            <a:spAutoFit/>
          </a:bodyPr>
          <a:lstStyle/>
          <a:p>
            <a:pPr>
              <a:lnSpc>
                <a:spcPct val="100000"/>
              </a:lnSpc>
            </a:pPr>
            <a:r>
              <a:rPr lang="en-IN" sz="2400" b="1" dirty="0"/>
              <a:t>TRACK:</a:t>
            </a:r>
            <a:r>
              <a:rPr lang="en-IN" sz="2400" dirty="0"/>
              <a:t> </a:t>
            </a:r>
            <a:r>
              <a:rPr lang="en-IN" sz="2400" b="1" dirty="0"/>
              <a:t>Open Innovation: Build the Next AI Startup</a:t>
            </a:r>
            <a:endParaRPr sz="2100" dirty="0">
              <a:latin typeface="Cambria"/>
              <a:cs typeface="Cambria"/>
            </a:endParaRPr>
          </a:p>
          <a:p>
            <a:pPr marL="12700" algn="just">
              <a:lnSpc>
                <a:spcPct val="100000"/>
              </a:lnSpc>
            </a:pPr>
            <a:endParaRPr lang="en-IN" sz="3100" b="1" dirty="0">
              <a:latin typeface="Cambria"/>
              <a:cs typeface="Cambria"/>
            </a:endParaRPr>
          </a:p>
          <a:p>
            <a:pPr marL="12700" algn="just">
              <a:lnSpc>
                <a:spcPct val="100000"/>
              </a:lnSpc>
            </a:pPr>
            <a:r>
              <a:rPr sz="2800" b="1" dirty="0">
                <a:latin typeface="Cambria"/>
                <a:cs typeface="Cambria"/>
              </a:rPr>
              <a:t>TEAM</a:t>
            </a:r>
            <a:r>
              <a:rPr sz="2800" b="1" spc="-110" dirty="0">
                <a:latin typeface="Cambria"/>
                <a:cs typeface="Cambria"/>
              </a:rPr>
              <a:t> </a:t>
            </a:r>
            <a:r>
              <a:rPr sz="2800" b="1" spc="-10" dirty="0">
                <a:latin typeface="Cambria"/>
                <a:cs typeface="Cambria"/>
              </a:rPr>
              <a:t>DETAILS</a:t>
            </a:r>
            <a:endParaRPr lang="en-IN" sz="2800" b="1" spc="-10" dirty="0">
              <a:latin typeface="Cambria"/>
              <a:cs typeface="Cambria"/>
            </a:endParaRPr>
          </a:p>
          <a:p>
            <a:pPr marL="12700" algn="just">
              <a:lnSpc>
                <a:spcPct val="100000"/>
              </a:lnSpc>
            </a:pPr>
            <a:r>
              <a:rPr sz="2200" spc="-40" dirty="0">
                <a:latin typeface="Cambria"/>
                <a:cs typeface="Cambria"/>
              </a:rPr>
              <a:t>Team</a:t>
            </a:r>
            <a:r>
              <a:rPr sz="2200" spc="-50" dirty="0">
                <a:latin typeface="Cambria"/>
                <a:cs typeface="Cambria"/>
              </a:rPr>
              <a:t> </a:t>
            </a:r>
            <a:r>
              <a:rPr sz="2200" dirty="0">
                <a:latin typeface="Cambria"/>
                <a:cs typeface="Cambria"/>
              </a:rPr>
              <a:t>Name:</a:t>
            </a:r>
            <a:r>
              <a:rPr sz="2200" spc="-45" dirty="0">
                <a:latin typeface="Cambria"/>
                <a:cs typeface="Cambria"/>
              </a:rPr>
              <a:t> </a:t>
            </a:r>
            <a:r>
              <a:rPr lang="en-IN" b="1" spc="-45" dirty="0">
                <a:latin typeface="Cambria"/>
                <a:cs typeface="Cambria"/>
              </a:rPr>
              <a:t>CipherX</a:t>
            </a:r>
          </a:p>
          <a:p>
            <a:pPr marL="12700" algn="just">
              <a:lnSpc>
                <a:spcPct val="100000"/>
              </a:lnSpc>
            </a:pPr>
            <a:r>
              <a:rPr sz="2200" dirty="0">
                <a:latin typeface="Cambria"/>
                <a:cs typeface="Cambria"/>
              </a:rPr>
              <a:t>College</a:t>
            </a:r>
            <a:r>
              <a:rPr sz="2200" spc="-45" dirty="0">
                <a:latin typeface="Cambria"/>
                <a:cs typeface="Cambria"/>
              </a:rPr>
              <a:t> </a:t>
            </a:r>
            <a:r>
              <a:rPr sz="2200" dirty="0">
                <a:latin typeface="Cambria"/>
                <a:cs typeface="Cambria"/>
              </a:rPr>
              <a:t>/</a:t>
            </a:r>
            <a:r>
              <a:rPr sz="2200" spc="-45" dirty="0">
                <a:latin typeface="Cambria"/>
                <a:cs typeface="Cambria"/>
              </a:rPr>
              <a:t> </a:t>
            </a:r>
            <a:r>
              <a:rPr sz="2200" dirty="0">
                <a:latin typeface="Cambria"/>
                <a:cs typeface="Cambria"/>
              </a:rPr>
              <a:t>Institution:</a:t>
            </a:r>
            <a:r>
              <a:rPr sz="2200" spc="-45" dirty="0">
                <a:latin typeface="Cambria"/>
                <a:cs typeface="Cambria"/>
              </a:rPr>
              <a:t> </a:t>
            </a:r>
            <a:r>
              <a:rPr lang="en-IN" sz="2200" spc="-45" dirty="0">
                <a:latin typeface="Cambria"/>
                <a:cs typeface="Cambria"/>
              </a:rPr>
              <a:t>Lovely Professional University</a:t>
            </a:r>
          </a:p>
          <a:p>
            <a:pPr marL="12700" algn="just">
              <a:lnSpc>
                <a:spcPct val="100000"/>
              </a:lnSpc>
            </a:pPr>
            <a:r>
              <a:rPr sz="2200" dirty="0">
                <a:latin typeface="Cambria"/>
                <a:cs typeface="Cambria"/>
              </a:rPr>
              <a:t>Members:</a:t>
            </a:r>
            <a:r>
              <a:rPr sz="2200" spc="-30" dirty="0">
                <a:latin typeface="Cambria"/>
                <a:cs typeface="Cambria"/>
              </a:rPr>
              <a:t> </a:t>
            </a:r>
            <a:endParaRPr lang="en-IN" sz="2200" spc="-30" dirty="0">
              <a:latin typeface="Cambria"/>
              <a:cs typeface="Cambria"/>
            </a:endParaRPr>
          </a:p>
          <a:p>
            <a:pPr marL="12700" algn="just">
              <a:lnSpc>
                <a:spcPct val="100000"/>
              </a:lnSpc>
            </a:pPr>
            <a:r>
              <a:rPr lang="en-IN" sz="2200" spc="-30" dirty="0">
                <a:latin typeface="Cambria"/>
                <a:cs typeface="Cambria"/>
              </a:rPr>
              <a:t>Narottam Kumar (Team Leader)</a:t>
            </a:r>
          </a:p>
          <a:p>
            <a:pPr marL="12700" algn="just">
              <a:lnSpc>
                <a:spcPct val="100000"/>
              </a:lnSpc>
            </a:pPr>
            <a:r>
              <a:rPr lang="en-IN" sz="2200" spc="-50" dirty="0">
                <a:latin typeface="Cambria"/>
                <a:cs typeface="Cambria"/>
              </a:rPr>
              <a:t>Simar Bhatti</a:t>
            </a:r>
          </a:p>
          <a:p>
            <a:pPr marL="12700" algn="just"/>
            <a:r>
              <a:rPr lang="en-IN" sz="2000" dirty="0"/>
              <a:t>Maroof Ahmad Malik</a:t>
            </a:r>
            <a:endParaRPr lang="en-IN" sz="2000" spc="-50" dirty="0">
              <a:latin typeface="Cambria"/>
              <a:cs typeface="Cambria"/>
            </a:endParaRPr>
          </a:p>
          <a:p>
            <a:pPr marL="12700" algn="just">
              <a:lnSpc>
                <a:spcPct val="100000"/>
              </a:lnSpc>
            </a:pPr>
            <a:r>
              <a:rPr sz="2200" dirty="0">
                <a:latin typeface="Cambria"/>
                <a:cs typeface="Cambria"/>
              </a:rPr>
              <a:t>Contact:</a:t>
            </a:r>
            <a:r>
              <a:rPr sz="2200" spc="-50" dirty="0">
                <a:latin typeface="Cambria"/>
                <a:cs typeface="Cambria"/>
              </a:rPr>
              <a:t> </a:t>
            </a:r>
            <a:r>
              <a:rPr lang="en-IN" sz="2200" spc="-50" dirty="0">
                <a:latin typeface="Cambria"/>
                <a:cs typeface="Cambria"/>
                <a:hlinkClick r:id="rId5"/>
              </a:rPr>
              <a:t>Narottam.bxr8845@gmail.com</a:t>
            </a:r>
            <a:r>
              <a:rPr lang="en-IN" sz="2200" spc="-50" dirty="0">
                <a:latin typeface="Cambria"/>
                <a:cs typeface="Cambria"/>
              </a:rPr>
              <a:t>                                           </a:t>
            </a:r>
            <a:r>
              <a:rPr sz="2200" spc="-50" dirty="0">
                <a:latin typeface="Cambria"/>
                <a:cs typeface="Cambria"/>
              </a:rPr>
              <a:t> </a:t>
            </a:r>
            <a:r>
              <a:rPr sz="2200" dirty="0">
                <a:latin typeface="Cambria"/>
                <a:cs typeface="Cambria"/>
              </a:rPr>
              <a:t>Mentor</a:t>
            </a:r>
            <a:r>
              <a:rPr sz="2200" spc="-45" dirty="0">
                <a:latin typeface="Cambria"/>
                <a:cs typeface="Cambria"/>
              </a:rPr>
              <a:t> </a:t>
            </a:r>
            <a:r>
              <a:rPr sz="2200" dirty="0">
                <a:latin typeface="Cambria"/>
                <a:cs typeface="Cambria"/>
              </a:rPr>
              <a:t>(if</a:t>
            </a:r>
            <a:r>
              <a:rPr sz="2200" spc="-45" dirty="0">
                <a:latin typeface="Cambria"/>
                <a:cs typeface="Cambria"/>
              </a:rPr>
              <a:t> </a:t>
            </a:r>
            <a:r>
              <a:rPr sz="2200" dirty="0">
                <a:latin typeface="Cambria"/>
                <a:cs typeface="Cambria"/>
              </a:rPr>
              <a:t>any):</a:t>
            </a:r>
            <a:r>
              <a:rPr sz="2200" spc="-45" dirty="0">
                <a:latin typeface="Cambria"/>
                <a:cs typeface="Cambria"/>
              </a:rPr>
              <a:t> </a:t>
            </a:r>
            <a:r>
              <a:rPr sz="2200" dirty="0">
                <a:latin typeface="Cambria"/>
                <a:cs typeface="Cambria"/>
              </a:rPr>
              <a:t>[</a:t>
            </a:r>
            <a:r>
              <a:rPr sz="2200" spc="-45" dirty="0">
                <a:latin typeface="Cambria"/>
                <a:cs typeface="Cambria"/>
              </a:rPr>
              <a:t> </a:t>
            </a:r>
            <a:r>
              <a:rPr lang="en-IN" sz="2200" spc="-45" dirty="0">
                <a:latin typeface="Cambria"/>
                <a:cs typeface="Cambria"/>
              </a:rPr>
              <a:t>No</a:t>
            </a:r>
            <a:r>
              <a:rPr sz="2200" spc="-50" dirty="0">
                <a:latin typeface="Cambria"/>
                <a:cs typeface="Cambria"/>
              </a:rPr>
              <a:t> ]</a:t>
            </a:r>
            <a:endParaRPr sz="2200" dirty="0">
              <a:latin typeface="Cambria"/>
              <a:cs typeface="Cambria"/>
            </a:endParaRPr>
          </a:p>
        </p:txBody>
      </p:sp>
      <p:sp>
        <p:nvSpPr>
          <p:cNvPr id="11" name="object 11"/>
          <p:cNvSpPr txBox="1"/>
          <p:nvPr/>
        </p:nvSpPr>
        <p:spPr>
          <a:xfrm>
            <a:off x="16887068" y="9788567"/>
            <a:ext cx="7448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01</a:t>
            </a:r>
            <a:r>
              <a:rPr sz="1800" spc="-15" dirty="0">
                <a:latin typeface="Cambria"/>
                <a:cs typeface="Cambria"/>
              </a:rPr>
              <a:t> </a:t>
            </a:r>
            <a:r>
              <a:rPr sz="1800" dirty="0">
                <a:latin typeface="Cambria"/>
                <a:cs typeface="Cambria"/>
              </a:rPr>
              <a:t>/</a:t>
            </a:r>
            <a:r>
              <a:rPr sz="1800" spc="-15" dirty="0">
                <a:latin typeface="Cambria"/>
                <a:cs typeface="Cambria"/>
              </a:rPr>
              <a:t> </a:t>
            </a:r>
            <a:r>
              <a:rPr sz="1800" spc="-25" dirty="0">
                <a:latin typeface="Cambria"/>
                <a:cs typeface="Cambria"/>
              </a:rPr>
              <a:t>05</a:t>
            </a:r>
            <a:endParaRPr sz="1800">
              <a:latin typeface="Cambria"/>
              <a:cs typeface="Cambria"/>
            </a:endParaRPr>
          </a:p>
        </p:txBody>
      </p:sp>
      <p:sp>
        <p:nvSpPr>
          <p:cNvPr id="12" name="object 12"/>
          <p:cNvSpPr txBox="1"/>
          <p:nvPr/>
        </p:nvSpPr>
        <p:spPr>
          <a:xfrm>
            <a:off x="506672" y="9788567"/>
            <a:ext cx="10445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SS26</a:t>
            </a:r>
            <a:r>
              <a:rPr sz="1800" spc="-5" dirty="0">
                <a:latin typeface="Cambria"/>
                <a:cs typeface="Cambria"/>
              </a:rPr>
              <a:t> </a:t>
            </a:r>
            <a:r>
              <a:rPr sz="1800" dirty="0">
                <a:latin typeface="Cambria"/>
                <a:cs typeface="Cambria"/>
              </a:rPr>
              <a:t>·</a:t>
            </a:r>
            <a:r>
              <a:rPr sz="1800" spc="-5" dirty="0">
                <a:latin typeface="Cambria"/>
                <a:cs typeface="Cambria"/>
              </a:rPr>
              <a:t> </a:t>
            </a:r>
            <a:r>
              <a:rPr sz="1800" spc="-25" dirty="0">
                <a:latin typeface="Cambria"/>
                <a:cs typeface="Cambria"/>
              </a:rPr>
              <a:t>AIH</a:t>
            </a:r>
            <a:endParaRPr sz="1800">
              <a:latin typeface="Cambria"/>
              <a:cs typeface="Cambria"/>
            </a:endParaRPr>
          </a:p>
        </p:txBody>
      </p:sp>
      <p:sp>
        <p:nvSpPr>
          <p:cNvPr id="13" name="object 13"/>
          <p:cNvSpPr txBox="1"/>
          <p:nvPr/>
        </p:nvSpPr>
        <p:spPr>
          <a:xfrm>
            <a:off x="6491361" y="9598067"/>
            <a:ext cx="6282055"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Cambria"/>
                <a:cs typeface="Cambria"/>
              </a:rPr>
              <a:t>SS26</a:t>
            </a:r>
            <a:r>
              <a:rPr sz="3000" spc="-50" dirty="0">
                <a:latin typeface="Cambria"/>
                <a:cs typeface="Cambria"/>
              </a:rPr>
              <a:t> </a:t>
            </a:r>
            <a:r>
              <a:rPr sz="3000" dirty="0">
                <a:latin typeface="Cambria"/>
                <a:cs typeface="Cambria"/>
              </a:rPr>
              <a:t>·</a:t>
            </a:r>
            <a:r>
              <a:rPr sz="3000" spc="-45" dirty="0">
                <a:latin typeface="Cambria"/>
                <a:cs typeface="Cambria"/>
              </a:rPr>
              <a:t> </a:t>
            </a:r>
            <a:r>
              <a:rPr sz="3000" dirty="0">
                <a:latin typeface="Cambria"/>
                <a:cs typeface="Cambria"/>
              </a:rPr>
              <a:t>AIH</a:t>
            </a:r>
            <a:r>
              <a:rPr sz="3000" spc="-45" dirty="0">
                <a:latin typeface="Cambria"/>
                <a:cs typeface="Cambria"/>
              </a:rPr>
              <a:t> </a:t>
            </a:r>
            <a:r>
              <a:rPr sz="3000" dirty="0">
                <a:latin typeface="Cambria"/>
                <a:cs typeface="Cambria"/>
              </a:rPr>
              <a:t>-</a:t>
            </a:r>
            <a:r>
              <a:rPr sz="3000" spc="-50" dirty="0">
                <a:latin typeface="Cambria"/>
                <a:cs typeface="Cambria"/>
              </a:rPr>
              <a:t> </a:t>
            </a:r>
            <a:r>
              <a:rPr sz="3000" dirty="0">
                <a:latin typeface="Cambria"/>
                <a:cs typeface="Cambria"/>
              </a:rPr>
              <a:t>Idea</a:t>
            </a:r>
            <a:r>
              <a:rPr sz="3000" spc="-45" dirty="0">
                <a:latin typeface="Cambria"/>
                <a:cs typeface="Cambria"/>
              </a:rPr>
              <a:t> </a:t>
            </a:r>
            <a:r>
              <a:rPr sz="3000" dirty="0">
                <a:latin typeface="Cambria"/>
                <a:cs typeface="Cambria"/>
              </a:rPr>
              <a:t>Submission</a:t>
            </a:r>
            <a:r>
              <a:rPr sz="3000" spc="-45" dirty="0">
                <a:latin typeface="Cambria"/>
                <a:cs typeface="Cambria"/>
              </a:rPr>
              <a:t> </a:t>
            </a:r>
            <a:r>
              <a:rPr sz="3000" spc="-10" dirty="0">
                <a:latin typeface="Cambria"/>
                <a:cs typeface="Cambria"/>
              </a:rPr>
              <a:t>Template</a:t>
            </a:r>
            <a:endParaRPr sz="3000" dirty="0">
              <a:latin typeface="Cambria"/>
              <a:cs typeface="Cambria"/>
            </a:endParaRPr>
          </a:p>
        </p:txBody>
      </p:sp>
      <p:sp>
        <p:nvSpPr>
          <p:cNvPr id="14" name="object 14"/>
          <p:cNvSpPr/>
          <p:nvPr/>
        </p:nvSpPr>
        <p:spPr>
          <a:xfrm>
            <a:off x="5774680" y="1221556"/>
            <a:ext cx="6943725" cy="854710"/>
          </a:xfrm>
          <a:custGeom>
            <a:avLst/>
            <a:gdLst/>
            <a:ahLst/>
            <a:cxnLst/>
            <a:rect l="l" t="t" r="r" b="b"/>
            <a:pathLst>
              <a:path w="6943725" h="854710">
                <a:moveTo>
                  <a:pt x="6943419" y="481190"/>
                </a:moveTo>
                <a:lnTo>
                  <a:pt x="6936341" y="522634"/>
                </a:lnTo>
                <a:lnTo>
                  <a:pt x="6923111" y="568448"/>
                </a:lnTo>
                <a:lnTo>
                  <a:pt x="6904889" y="612439"/>
                </a:lnTo>
                <a:lnTo>
                  <a:pt x="6881849" y="654189"/>
                </a:lnTo>
                <a:lnTo>
                  <a:pt x="6854163" y="693281"/>
                </a:lnTo>
                <a:lnTo>
                  <a:pt x="6822005" y="729294"/>
                </a:lnTo>
                <a:lnTo>
                  <a:pt x="6785991" y="761452"/>
                </a:lnTo>
                <a:lnTo>
                  <a:pt x="6746900" y="789138"/>
                </a:lnTo>
                <a:lnTo>
                  <a:pt x="6705149" y="812178"/>
                </a:lnTo>
                <a:lnTo>
                  <a:pt x="6661158" y="830400"/>
                </a:lnTo>
                <a:lnTo>
                  <a:pt x="6615344" y="843630"/>
                </a:lnTo>
                <a:lnTo>
                  <a:pt x="6568126" y="851695"/>
                </a:lnTo>
                <a:lnTo>
                  <a:pt x="6519921" y="854422"/>
                </a:lnTo>
                <a:lnTo>
                  <a:pt x="427211" y="854422"/>
                </a:lnTo>
                <a:lnTo>
                  <a:pt x="379006" y="851695"/>
                </a:lnTo>
                <a:lnTo>
                  <a:pt x="331787" y="843630"/>
                </a:lnTo>
                <a:lnTo>
                  <a:pt x="285973" y="830400"/>
                </a:lnTo>
                <a:lnTo>
                  <a:pt x="241982" y="812178"/>
                </a:lnTo>
                <a:lnTo>
                  <a:pt x="200232" y="789138"/>
                </a:lnTo>
                <a:lnTo>
                  <a:pt x="161141" y="761452"/>
                </a:lnTo>
                <a:lnTo>
                  <a:pt x="125127" y="729295"/>
                </a:lnTo>
                <a:lnTo>
                  <a:pt x="92969" y="693280"/>
                </a:lnTo>
                <a:lnTo>
                  <a:pt x="65283" y="654189"/>
                </a:lnTo>
                <a:lnTo>
                  <a:pt x="42243" y="612439"/>
                </a:lnTo>
                <a:lnTo>
                  <a:pt x="24021" y="568448"/>
                </a:lnTo>
                <a:lnTo>
                  <a:pt x="10791" y="522634"/>
                </a:lnTo>
                <a:lnTo>
                  <a:pt x="2726" y="475415"/>
                </a:lnTo>
                <a:lnTo>
                  <a:pt x="0" y="427211"/>
                </a:lnTo>
                <a:lnTo>
                  <a:pt x="2726" y="379006"/>
                </a:lnTo>
                <a:lnTo>
                  <a:pt x="10791" y="331787"/>
                </a:lnTo>
                <a:lnTo>
                  <a:pt x="24021" y="285974"/>
                </a:lnTo>
                <a:lnTo>
                  <a:pt x="42243" y="241982"/>
                </a:lnTo>
                <a:lnTo>
                  <a:pt x="65283" y="200232"/>
                </a:lnTo>
                <a:lnTo>
                  <a:pt x="92969" y="161141"/>
                </a:lnTo>
                <a:lnTo>
                  <a:pt x="125127" y="125127"/>
                </a:lnTo>
                <a:lnTo>
                  <a:pt x="161141" y="92969"/>
                </a:lnTo>
                <a:lnTo>
                  <a:pt x="200232" y="65283"/>
                </a:lnTo>
                <a:lnTo>
                  <a:pt x="241982" y="42243"/>
                </a:lnTo>
                <a:lnTo>
                  <a:pt x="285973" y="24021"/>
                </a:lnTo>
                <a:lnTo>
                  <a:pt x="331787" y="10791"/>
                </a:lnTo>
                <a:lnTo>
                  <a:pt x="379006" y="2726"/>
                </a:lnTo>
                <a:lnTo>
                  <a:pt x="427211" y="0"/>
                </a:lnTo>
                <a:lnTo>
                  <a:pt x="6519921" y="0"/>
                </a:lnTo>
                <a:lnTo>
                  <a:pt x="6568126" y="2726"/>
                </a:lnTo>
                <a:lnTo>
                  <a:pt x="6615344" y="10791"/>
                </a:lnTo>
                <a:lnTo>
                  <a:pt x="6661158" y="24021"/>
                </a:lnTo>
                <a:lnTo>
                  <a:pt x="6705149" y="42243"/>
                </a:lnTo>
                <a:lnTo>
                  <a:pt x="6746900" y="65283"/>
                </a:lnTo>
                <a:lnTo>
                  <a:pt x="6785991" y="92969"/>
                </a:lnTo>
                <a:lnTo>
                  <a:pt x="6822005" y="125127"/>
                </a:lnTo>
                <a:lnTo>
                  <a:pt x="6854163" y="161141"/>
                </a:lnTo>
                <a:lnTo>
                  <a:pt x="6881849" y="200232"/>
                </a:lnTo>
                <a:lnTo>
                  <a:pt x="6904889" y="241982"/>
                </a:lnTo>
                <a:lnTo>
                  <a:pt x="6923111" y="285973"/>
                </a:lnTo>
                <a:lnTo>
                  <a:pt x="6936341" y="331787"/>
                </a:lnTo>
                <a:lnTo>
                  <a:pt x="6943419" y="373231"/>
                </a:lnTo>
              </a:path>
            </a:pathLst>
          </a:custGeom>
          <a:ln w="38099">
            <a:solidFill>
              <a:srgbClr val="000000"/>
            </a:solidFill>
          </a:ln>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63796" y="3138008"/>
            <a:ext cx="422017" cy="414201"/>
          </a:xfrm>
          <a:custGeom>
            <a:avLst/>
            <a:gdLst/>
            <a:ahLst/>
            <a:cxnLst/>
            <a:rect l="l" t="t" r="r" b="b"/>
            <a:pathLst>
              <a:path w="581025" h="581025">
                <a:moveTo>
                  <a:pt x="421081" y="292379"/>
                </a:moveTo>
                <a:lnTo>
                  <a:pt x="420916" y="291985"/>
                </a:lnTo>
                <a:lnTo>
                  <a:pt x="420916" y="290842"/>
                </a:lnTo>
                <a:lnTo>
                  <a:pt x="420090" y="290029"/>
                </a:lnTo>
                <a:lnTo>
                  <a:pt x="419049" y="287515"/>
                </a:lnTo>
                <a:lnTo>
                  <a:pt x="301053" y="169443"/>
                </a:lnTo>
                <a:lnTo>
                  <a:pt x="293344" y="169443"/>
                </a:lnTo>
                <a:lnTo>
                  <a:pt x="283768" y="178930"/>
                </a:lnTo>
                <a:lnTo>
                  <a:pt x="283768" y="186639"/>
                </a:lnTo>
                <a:lnTo>
                  <a:pt x="382524" y="285394"/>
                </a:lnTo>
                <a:lnTo>
                  <a:pt x="167322" y="285394"/>
                </a:lnTo>
                <a:lnTo>
                  <a:pt x="161886" y="290842"/>
                </a:lnTo>
                <a:lnTo>
                  <a:pt x="161886" y="304304"/>
                </a:lnTo>
                <a:lnTo>
                  <a:pt x="167322" y="309740"/>
                </a:lnTo>
                <a:lnTo>
                  <a:pt x="382524" y="309740"/>
                </a:lnTo>
                <a:lnTo>
                  <a:pt x="283768" y="408419"/>
                </a:lnTo>
                <a:lnTo>
                  <a:pt x="283768" y="416128"/>
                </a:lnTo>
                <a:lnTo>
                  <a:pt x="290918" y="423278"/>
                </a:lnTo>
                <a:lnTo>
                  <a:pt x="294081" y="424484"/>
                </a:lnTo>
                <a:lnTo>
                  <a:pt x="297167" y="424484"/>
                </a:lnTo>
                <a:lnTo>
                  <a:pt x="300240" y="424484"/>
                </a:lnTo>
                <a:lnTo>
                  <a:pt x="303415" y="423278"/>
                </a:lnTo>
                <a:lnTo>
                  <a:pt x="419049" y="307721"/>
                </a:lnTo>
                <a:lnTo>
                  <a:pt x="420116" y="305104"/>
                </a:lnTo>
                <a:lnTo>
                  <a:pt x="420916" y="304304"/>
                </a:lnTo>
                <a:lnTo>
                  <a:pt x="420916" y="303174"/>
                </a:lnTo>
                <a:lnTo>
                  <a:pt x="421081" y="302768"/>
                </a:lnTo>
                <a:lnTo>
                  <a:pt x="421081" y="292379"/>
                </a:lnTo>
                <a:close/>
              </a:path>
              <a:path w="581025" h="581025">
                <a:moveTo>
                  <a:pt x="580936" y="290512"/>
                </a:moveTo>
                <a:lnTo>
                  <a:pt x="577138" y="243459"/>
                </a:lnTo>
                <a:lnTo>
                  <a:pt x="566115" y="198793"/>
                </a:lnTo>
                <a:lnTo>
                  <a:pt x="556590" y="176288"/>
                </a:lnTo>
                <a:lnTo>
                  <a:pt x="556590" y="290512"/>
                </a:lnTo>
                <a:lnTo>
                  <a:pt x="552297" y="338302"/>
                </a:lnTo>
                <a:lnTo>
                  <a:pt x="539927" y="383311"/>
                </a:lnTo>
                <a:lnTo>
                  <a:pt x="520230" y="424764"/>
                </a:lnTo>
                <a:lnTo>
                  <a:pt x="493966" y="461911"/>
                </a:lnTo>
                <a:lnTo>
                  <a:pt x="461873" y="494017"/>
                </a:lnTo>
                <a:lnTo>
                  <a:pt x="424738" y="520293"/>
                </a:lnTo>
                <a:lnTo>
                  <a:pt x="383286" y="540004"/>
                </a:lnTo>
                <a:lnTo>
                  <a:pt x="338289" y="552386"/>
                </a:lnTo>
                <a:lnTo>
                  <a:pt x="290512" y="556679"/>
                </a:lnTo>
                <a:lnTo>
                  <a:pt x="242722" y="552386"/>
                </a:lnTo>
                <a:lnTo>
                  <a:pt x="197713" y="540004"/>
                </a:lnTo>
                <a:lnTo>
                  <a:pt x="156260" y="520293"/>
                </a:lnTo>
                <a:lnTo>
                  <a:pt x="119100" y="494017"/>
                </a:lnTo>
                <a:lnTo>
                  <a:pt x="86995" y="461911"/>
                </a:lnTo>
                <a:lnTo>
                  <a:pt x="60731" y="424764"/>
                </a:lnTo>
                <a:lnTo>
                  <a:pt x="41021" y="383311"/>
                </a:lnTo>
                <a:lnTo>
                  <a:pt x="28638" y="338302"/>
                </a:lnTo>
                <a:lnTo>
                  <a:pt x="24345" y="290512"/>
                </a:lnTo>
                <a:lnTo>
                  <a:pt x="28638" y="242722"/>
                </a:lnTo>
                <a:lnTo>
                  <a:pt x="41021" y="197713"/>
                </a:lnTo>
                <a:lnTo>
                  <a:pt x="60731" y="156260"/>
                </a:lnTo>
                <a:lnTo>
                  <a:pt x="87058" y="119049"/>
                </a:lnTo>
                <a:lnTo>
                  <a:pt x="119100" y="87007"/>
                </a:lnTo>
                <a:lnTo>
                  <a:pt x="156260" y="60731"/>
                </a:lnTo>
                <a:lnTo>
                  <a:pt x="197713" y="41021"/>
                </a:lnTo>
                <a:lnTo>
                  <a:pt x="242722" y="28638"/>
                </a:lnTo>
                <a:lnTo>
                  <a:pt x="290512" y="24345"/>
                </a:lnTo>
                <a:lnTo>
                  <a:pt x="338277" y="28638"/>
                </a:lnTo>
                <a:lnTo>
                  <a:pt x="383260" y="41021"/>
                </a:lnTo>
                <a:lnTo>
                  <a:pt x="424700" y="60731"/>
                </a:lnTo>
                <a:lnTo>
                  <a:pt x="461848" y="87007"/>
                </a:lnTo>
                <a:lnTo>
                  <a:pt x="493877" y="119049"/>
                </a:lnTo>
                <a:lnTo>
                  <a:pt x="520217" y="156260"/>
                </a:lnTo>
                <a:lnTo>
                  <a:pt x="539915" y="197713"/>
                </a:lnTo>
                <a:lnTo>
                  <a:pt x="552297" y="242722"/>
                </a:lnTo>
                <a:lnTo>
                  <a:pt x="552361" y="243459"/>
                </a:lnTo>
                <a:lnTo>
                  <a:pt x="556590" y="290512"/>
                </a:lnTo>
                <a:lnTo>
                  <a:pt x="556590" y="176288"/>
                </a:lnTo>
                <a:lnTo>
                  <a:pt x="548487" y="157124"/>
                </a:lnTo>
                <a:lnTo>
                  <a:pt x="524840" y="119049"/>
                </a:lnTo>
                <a:lnTo>
                  <a:pt x="495795" y="85191"/>
                </a:lnTo>
                <a:lnTo>
                  <a:pt x="461937" y="56121"/>
                </a:lnTo>
                <a:lnTo>
                  <a:pt x="423887" y="32473"/>
                </a:lnTo>
                <a:lnTo>
                  <a:pt x="404685" y="24345"/>
                </a:lnTo>
                <a:lnTo>
                  <a:pt x="382219" y="14833"/>
                </a:lnTo>
                <a:lnTo>
                  <a:pt x="337566" y="3810"/>
                </a:lnTo>
                <a:lnTo>
                  <a:pt x="290512" y="0"/>
                </a:lnTo>
                <a:lnTo>
                  <a:pt x="243471" y="3810"/>
                </a:lnTo>
                <a:lnTo>
                  <a:pt x="198818" y="14833"/>
                </a:lnTo>
                <a:lnTo>
                  <a:pt x="157149" y="32473"/>
                </a:lnTo>
                <a:lnTo>
                  <a:pt x="119087" y="56121"/>
                </a:lnTo>
                <a:lnTo>
                  <a:pt x="85217" y="85191"/>
                </a:lnTo>
                <a:lnTo>
                  <a:pt x="56146" y="119049"/>
                </a:lnTo>
                <a:lnTo>
                  <a:pt x="32499" y="157124"/>
                </a:lnTo>
                <a:lnTo>
                  <a:pt x="14846" y="198793"/>
                </a:lnTo>
                <a:lnTo>
                  <a:pt x="3810" y="243459"/>
                </a:lnTo>
                <a:lnTo>
                  <a:pt x="0" y="290512"/>
                </a:lnTo>
                <a:lnTo>
                  <a:pt x="3810" y="337553"/>
                </a:lnTo>
                <a:lnTo>
                  <a:pt x="14833" y="382193"/>
                </a:lnTo>
                <a:lnTo>
                  <a:pt x="32473" y="423849"/>
                </a:lnTo>
                <a:lnTo>
                  <a:pt x="56121" y="461911"/>
                </a:lnTo>
                <a:lnTo>
                  <a:pt x="85178" y="495769"/>
                </a:lnTo>
                <a:lnTo>
                  <a:pt x="119049" y="524827"/>
                </a:lnTo>
                <a:lnTo>
                  <a:pt x="157111" y="548474"/>
                </a:lnTo>
                <a:lnTo>
                  <a:pt x="198780" y="566115"/>
                </a:lnTo>
                <a:lnTo>
                  <a:pt x="243446" y="577138"/>
                </a:lnTo>
                <a:lnTo>
                  <a:pt x="290512" y="580948"/>
                </a:lnTo>
                <a:lnTo>
                  <a:pt x="291503" y="580948"/>
                </a:lnTo>
                <a:lnTo>
                  <a:pt x="338543" y="577138"/>
                </a:lnTo>
                <a:lnTo>
                  <a:pt x="337870" y="577138"/>
                </a:lnTo>
                <a:lnTo>
                  <a:pt x="382524" y="566115"/>
                </a:lnTo>
                <a:lnTo>
                  <a:pt x="382384" y="566115"/>
                </a:lnTo>
                <a:lnTo>
                  <a:pt x="404647" y="556679"/>
                </a:lnTo>
                <a:lnTo>
                  <a:pt x="423976" y="548474"/>
                </a:lnTo>
                <a:lnTo>
                  <a:pt x="462000" y="524827"/>
                </a:lnTo>
                <a:lnTo>
                  <a:pt x="495820" y="495769"/>
                </a:lnTo>
                <a:lnTo>
                  <a:pt x="524852" y="461911"/>
                </a:lnTo>
                <a:lnTo>
                  <a:pt x="548487" y="423849"/>
                </a:lnTo>
                <a:lnTo>
                  <a:pt x="566115" y="382193"/>
                </a:lnTo>
                <a:lnTo>
                  <a:pt x="577126" y="337553"/>
                </a:lnTo>
                <a:lnTo>
                  <a:pt x="580936" y="290512"/>
                </a:lnTo>
                <a:close/>
              </a:path>
            </a:pathLst>
          </a:custGeom>
          <a:solidFill>
            <a:srgbClr val="363336"/>
          </a:solidFill>
        </p:spPr>
        <p:txBody>
          <a:bodyPr wrap="square" lIns="0" tIns="0" rIns="0" bIns="0" rtlCol="0"/>
          <a:lstStyle/>
          <a:p>
            <a:endParaRPr sz="1400" dirty="0"/>
          </a:p>
        </p:txBody>
      </p:sp>
      <p:sp>
        <p:nvSpPr>
          <p:cNvPr id="3" name="object 3"/>
          <p:cNvSpPr txBox="1"/>
          <p:nvPr/>
        </p:nvSpPr>
        <p:spPr>
          <a:xfrm>
            <a:off x="1028959" y="319220"/>
            <a:ext cx="6340192" cy="443711"/>
          </a:xfrm>
          <a:prstGeom prst="rect">
            <a:avLst/>
          </a:prstGeom>
        </p:spPr>
        <p:txBody>
          <a:bodyPr vert="horz" wrap="square" lIns="0" tIns="12700" rIns="0" bIns="0" rtlCol="0">
            <a:spAutoFit/>
          </a:bodyPr>
          <a:lstStyle/>
          <a:p>
            <a:pPr marL="12700">
              <a:lnSpc>
                <a:spcPct val="100000"/>
              </a:lnSpc>
              <a:spcBef>
                <a:spcPts val="100"/>
              </a:spcBef>
              <a:tabLst>
                <a:tab pos="818515" algn="l"/>
              </a:tabLst>
            </a:pPr>
            <a:r>
              <a:rPr lang="en-IN" sz="2800" b="1" dirty="0">
                <a:latin typeface="Times New Roman" panose="02020603050405020304" pitchFamily="18" charset="0"/>
                <a:cs typeface="Times New Roman" panose="02020603050405020304" pitchFamily="18" charset="0"/>
              </a:rPr>
              <a:t>The Growing Threat of Digital Scams</a:t>
            </a:r>
            <a:endParaRPr sz="2800" b="1" dirty="0">
              <a:latin typeface="Times New Roman" panose="02020603050405020304" pitchFamily="18" charset="0"/>
              <a:cs typeface="Times New Roman" panose="02020603050405020304" pitchFamily="18" charset="0"/>
            </a:endParaRPr>
          </a:p>
        </p:txBody>
      </p:sp>
      <p:sp>
        <p:nvSpPr>
          <p:cNvPr id="4" name="object 4" descr="$PPTXTitle"/>
          <p:cNvSpPr txBox="1">
            <a:spLocks noGrp="1"/>
          </p:cNvSpPr>
          <p:nvPr>
            <p:ph type="title"/>
          </p:nvPr>
        </p:nvSpPr>
        <p:spPr>
          <a:xfrm>
            <a:off x="1028959" y="1086914"/>
            <a:ext cx="12631421" cy="628377"/>
          </a:xfrm>
          <a:prstGeom prst="rect">
            <a:avLst/>
          </a:prstGeom>
        </p:spPr>
        <p:txBody>
          <a:bodyPr vert="horz" wrap="square" lIns="0" tIns="12700" rIns="0" bIns="0" rtlCol="0">
            <a:spAutoFit/>
          </a:bodyPr>
          <a:lstStyle/>
          <a:p>
            <a:pPr marL="12700">
              <a:lnSpc>
                <a:spcPct val="100000"/>
              </a:lnSpc>
              <a:spcBef>
                <a:spcPts val="100"/>
              </a:spcBef>
            </a:pPr>
            <a:r>
              <a:rPr lang="en-IN" sz="2000" b="0" dirty="0"/>
              <a:t>Millions of users become victims of phishing, QR-code fraud, fake job offers, and malicious websites because existing cybersecurity tools are often too complex and fail to provide clear, actionable guidance.</a:t>
            </a:r>
            <a:endParaRPr sz="2000" b="0" spc="-50" dirty="0"/>
          </a:p>
        </p:txBody>
      </p:sp>
      <p:sp>
        <p:nvSpPr>
          <p:cNvPr id="5" name="object 5"/>
          <p:cNvSpPr txBox="1"/>
          <p:nvPr/>
        </p:nvSpPr>
        <p:spPr>
          <a:xfrm>
            <a:off x="16887068" y="9788567"/>
            <a:ext cx="7448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02</a:t>
            </a:r>
            <a:r>
              <a:rPr sz="1800" spc="-15" dirty="0">
                <a:latin typeface="Cambria"/>
                <a:cs typeface="Cambria"/>
              </a:rPr>
              <a:t> </a:t>
            </a:r>
            <a:r>
              <a:rPr sz="1800" dirty="0">
                <a:latin typeface="Cambria"/>
                <a:cs typeface="Cambria"/>
              </a:rPr>
              <a:t>/</a:t>
            </a:r>
            <a:r>
              <a:rPr sz="1800" spc="-15" dirty="0">
                <a:latin typeface="Cambria"/>
                <a:cs typeface="Cambria"/>
              </a:rPr>
              <a:t> </a:t>
            </a:r>
            <a:r>
              <a:rPr sz="1800" spc="-25" dirty="0">
                <a:latin typeface="Cambria"/>
                <a:cs typeface="Cambria"/>
              </a:rPr>
              <a:t>05</a:t>
            </a:r>
            <a:endParaRPr sz="1800">
              <a:latin typeface="Cambria"/>
              <a:cs typeface="Cambria"/>
            </a:endParaRPr>
          </a:p>
        </p:txBody>
      </p:sp>
      <p:sp>
        <p:nvSpPr>
          <p:cNvPr id="6" name="object 6"/>
          <p:cNvSpPr txBox="1"/>
          <p:nvPr/>
        </p:nvSpPr>
        <p:spPr>
          <a:xfrm>
            <a:off x="48377" y="9967780"/>
            <a:ext cx="10445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SS26</a:t>
            </a:r>
            <a:r>
              <a:rPr sz="1800" spc="-5" dirty="0">
                <a:latin typeface="Cambria"/>
                <a:cs typeface="Cambria"/>
              </a:rPr>
              <a:t> </a:t>
            </a:r>
            <a:r>
              <a:rPr sz="1800" dirty="0">
                <a:latin typeface="Cambria"/>
                <a:cs typeface="Cambria"/>
              </a:rPr>
              <a:t>·</a:t>
            </a:r>
            <a:r>
              <a:rPr sz="1800" spc="-5" dirty="0">
                <a:latin typeface="Cambria"/>
                <a:cs typeface="Cambria"/>
              </a:rPr>
              <a:t> </a:t>
            </a:r>
            <a:r>
              <a:rPr sz="1800" spc="-25" dirty="0">
                <a:latin typeface="Cambria"/>
                <a:cs typeface="Cambria"/>
              </a:rPr>
              <a:t>AIH</a:t>
            </a:r>
            <a:endParaRPr sz="1800" dirty="0">
              <a:latin typeface="Cambria"/>
              <a:cs typeface="Cambria"/>
            </a:endParaRPr>
          </a:p>
        </p:txBody>
      </p:sp>
      <p:pic>
        <p:nvPicPr>
          <p:cNvPr id="7" name="object 7"/>
          <p:cNvPicPr/>
          <p:nvPr/>
        </p:nvPicPr>
        <p:blipFill>
          <a:blip r:embed="rId2" cstate="print"/>
          <a:stretch>
            <a:fillRect/>
          </a:stretch>
        </p:blipFill>
        <p:spPr>
          <a:xfrm>
            <a:off x="785813" y="4954875"/>
            <a:ext cx="95250" cy="95249"/>
          </a:xfrm>
          <a:prstGeom prst="rect">
            <a:avLst/>
          </a:prstGeom>
        </p:spPr>
      </p:pic>
      <p:pic>
        <p:nvPicPr>
          <p:cNvPr id="8" name="object 8"/>
          <p:cNvPicPr/>
          <p:nvPr/>
        </p:nvPicPr>
        <p:blipFill>
          <a:blip r:embed="rId2" cstate="print"/>
          <a:stretch>
            <a:fillRect/>
          </a:stretch>
        </p:blipFill>
        <p:spPr>
          <a:xfrm>
            <a:off x="769521" y="5708688"/>
            <a:ext cx="95250" cy="95249"/>
          </a:xfrm>
          <a:prstGeom prst="rect">
            <a:avLst/>
          </a:prstGeom>
        </p:spPr>
      </p:pic>
      <p:pic>
        <p:nvPicPr>
          <p:cNvPr id="9" name="object 9"/>
          <p:cNvPicPr/>
          <p:nvPr/>
        </p:nvPicPr>
        <p:blipFill>
          <a:blip r:embed="rId2" cstate="print"/>
          <a:stretch>
            <a:fillRect/>
          </a:stretch>
        </p:blipFill>
        <p:spPr>
          <a:xfrm>
            <a:off x="764511" y="7002152"/>
            <a:ext cx="95250" cy="95249"/>
          </a:xfrm>
          <a:prstGeom prst="rect">
            <a:avLst/>
          </a:prstGeom>
        </p:spPr>
      </p:pic>
      <p:pic>
        <p:nvPicPr>
          <p:cNvPr id="10" name="object 10"/>
          <p:cNvPicPr/>
          <p:nvPr/>
        </p:nvPicPr>
        <p:blipFill>
          <a:blip r:embed="rId2" cstate="print"/>
          <a:stretch>
            <a:fillRect/>
          </a:stretch>
        </p:blipFill>
        <p:spPr>
          <a:xfrm>
            <a:off x="738188" y="8439722"/>
            <a:ext cx="95250" cy="95249"/>
          </a:xfrm>
          <a:prstGeom prst="rect">
            <a:avLst/>
          </a:prstGeom>
        </p:spPr>
      </p:pic>
      <p:sp>
        <p:nvSpPr>
          <p:cNvPr id="11" name="object 11"/>
          <p:cNvSpPr txBox="1"/>
          <p:nvPr/>
        </p:nvSpPr>
        <p:spPr>
          <a:xfrm>
            <a:off x="1028959" y="3140673"/>
            <a:ext cx="12631421" cy="7007046"/>
          </a:xfrm>
          <a:prstGeom prst="rect">
            <a:avLst/>
          </a:prstGeom>
        </p:spPr>
        <p:txBody>
          <a:bodyPr vert="horz" wrap="square" lIns="0" tIns="12700" rIns="0" bIns="0" rtlCol="0">
            <a:spAutoFit/>
          </a:bodyPr>
          <a:lstStyle/>
          <a:p>
            <a:pPr marL="12700">
              <a:lnSpc>
                <a:spcPts val="2680"/>
              </a:lnSpc>
            </a:pPr>
            <a:r>
              <a:rPr lang="en-IN" sz="2400" b="1" dirty="0"/>
              <a:t>Problem Overview</a:t>
            </a:r>
          </a:p>
          <a:p>
            <a:pPr marL="12700">
              <a:lnSpc>
                <a:spcPts val="2680"/>
              </a:lnSpc>
            </a:pPr>
            <a:r>
              <a:rPr lang="en-IN" sz="2000" dirty="0"/>
              <a:t>As digital services become an essential part of everyday life, cybercriminals exploit users through sophisticated phishing emails, fake job offers, malicious QR codes, fraudulent websites, and social engineering attacks. Existing cybersecurity solutions are often too technical and provide warnings without clear explanations, leaving non-technical users vulnerable to financial fraud, identity theft, and data breaches</a:t>
            </a:r>
          </a:p>
          <a:p>
            <a:pPr marL="12700">
              <a:lnSpc>
                <a:spcPts val="2680"/>
              </a:lnSpc>
            </a:pPr>
            <a:r>
              <a:rPr sz="2400" b="1" dirty="0">
                <a:latin typeface="Cambria"/>
                <a:cs typeface="Cambria"/>
              </a:rPr>
              <a:t>Who</a:t>
            </a:r>
            <a:r>
              <a:rPr sz="2400" b="1" spc="-30" dirty="0">
                <a:latin typeface="Cambria"/>
                <a:cs typeface="Cambria"/>
              </a:rPr>
              <a:t> </a:t>
            </a:r>
            <a:r>
              <a:rPr sz="2400" b="1" dirty="0">
                <a:latin typeface="Cambria"/>
                <a:cs typeface="Cambria"/>
              </a:rPr>
              <a:t>is</a:t>
            </a:r>
            <a:r>
              <a:rPr sz="2400" b="1" spc="-25" dirty="0">
                <a:latin typeface="Cambria"/>
                <a:cs typeface="Cambria"/>
              </a:rPr>
              <a:t> </a:t>
            </a:r>
            <a:r>
              <a:rPr sz="2400" b="1" spc="-10" dirty="0">
                <a:latin typeface="Cambria"/>
                <a:cs typeface="Cambria"/>
              </a:rPr>
              <a:t>affected </a:t>
            </a:r>
            <a:endParaRPr lang="en-IN" sz="2400" b="1" spc="-10" dirty="0">
              <a:latin typeface="Cambria"/>
              <a:cs typeface="Cambria"/>
            </a:endParaRPr>
          </a:p>
          <a:p>
            <a:pPr marL="12700">
              <a:lnSpc>
                <a:spcPts val="2680"/>
              </a:lnSpc>
            </a:pPr>
            <a:r>
              <a:rPr lang="en-IN" sz="2000" dirty="0"/>
              <a:t>Students &amp; Job Seekers, Senior Citizens, Small Businesses, and Online Banking Users.</a:t>
            </a:r>
          </a:p>
          <a:p>
            <a:pPr marL="12700">
              <a:lnSpc>
                <a:spcPts val="2680"/>
              </a:lnSpc>
            </a:pPr>
            <a:r>
              <a:rPr sz="2400" b="1" dirty="0">
                <a:latin typeface="Cambria"/>
                <a:cs typeface="Cambria"/>
              </a:rPr>
              <a:t>What's</a:t>
            </a:r>
            <a:r>
              <a:rPr sz="2400" b="1" spc="-90" dirty="0">
                <a:latin typeface="Cambria"/>
                <a:cs typeface="Cambria"/>
              </a:rPr>
              <a:t> </a:t>
            </a:r>
            <a:r>
              <a:rPr sz="2400" b="1" dirty="0">
                <a:latin typeface="Cambria"/>
                <a:cs typeface="Cambria"/>
              </a:rPr>
              <a:t>broken</a:t>
            </a:r>
            <a:r>
              <a:rPr sz="2400" b="1" spc="-85" dirty="0">
                <a:latin typeface="Cambria"/>
                <a:cs typeface="Cambria"/>
              </a:rPr>
              <a:t> </a:t>
            </a:r>
            <a:r>
              <a:rPr sz="2400" b="1" spc="-20" dirty="0">
                <a:latin typeface="Cambria"/>
                <a:cs typeface="Cambria"/>
              </a:rPr>
              <a:t>today</a:t>
            </a:r>
            <a:endParaRPr lang="en-IN" sz="2400" b="1" spc="-20" dirty="0">
              <a:latin typeface="Cambria"/>
              <a:cs typeface="Cambria"/>
            </a:endParaRPr>
          </a:p>
          <a:p>
            <a:pPr marL="12700">
              <a:lnSpc>
                <a:spcPts val="2680"/>
              </a:lnSpc>
            </a:pPr>
            <a:r>
              <a:rPr lang="en-IN" sz="2000" dirty="0"/>
              <a:t>Cybersecurity tools are complex for normal users </a:t>
            </a:r>
          </a:p>
          <a:p>
            <a:pPr marL="12700">
              <a:lnSpc>
                <a:spcPts val="2680"/>
              </a:lnSpc>
            </a:pPr>
            <a:r>
              <a:rPr lang="en-IN" sz="2000" dirty="0"/>
              <a:t>Alerts lack clear explanations </a:t>
            </a:r>
          </a:p>
          <a:p>
            <a:pPr marL="12700">
              <a:lnSpc>
                <a:spcPts val="2680"/>
              </a:lnSpc>
            </a:pPr>
            <a:r>
              <a:rPr lang="en-IN" sz="2000" dirty="0"/>
              <a:t>AI scams are becoming harder to detect</a:t>
            </a:r>
          </a:p>
          <a:p>
            <a:pPr marL="12700">
              <a:lnSpc>
                <a:spcPts val="2680"/>
              </a:lnSpc>
            </a:pPr>
            <a:r>
              <a:rPr sz="2400" b="1" dirty="0">
                <a:latin typeface="Cambria"/>
                <a:cs typeface="Cambria"/>
              </a:rPr>
              <a:t>Why</a:t>
            </a:r>
            <a:r>
              <a:rPr sz="2400" b="1" spc="-60" dirty="0">
                <a:latin typeface="Cambria"/>
                <a:cs typeface="Cambria"/>
              </a:rPr>
              <a:t> </a:t>
            </a:r>
            <a:r>
              <a:rPr sz="2400" b="1" dirty="0">
                <a:latin typeface="Cambria"/>
                <a:cs typeface="Cambria"/>
              </a:rPr>
              <a:t>it</a:t>
            </a:r>
            <a:r>
              <a:rPr sz="2400" b="1" spc="-60" dirty="0">
                <a:latin typeface="Cambria"/>
                <a:cs typeface="Cambria"/>
              </a:rPr>
              <a:t> </a:t>
            </a:r>
            <a:r>
              <a:rPr sz="2400" b="1" dirty="0">
                <a:latin typeface="Cambria"/>
                <a:cs typeface="Cambria"/>
              </a:rPr>
              <a:t>matters</a:t>
            </a:r>
            <a:r>
              <a:rPr sz="2400" b="1" spc="-60" dirty="0">
                <a:latin typeface="Cambria"/>
                <a:cs typeface="Cambria"/>
              </a:rPr>
              <a:t> </a:t>
            </a:r>
            <a:r>
              <a:rPr sz="2400" b="1" spc="-25" dirty="0">
                <a:latin typeface="Cambria"/>
                <a:cs typeface="Cambria"/>
              </a:rPr>
              <a:t>now</a:t>
            </a:r>
            <a:endParaRPr lang="en-IN" sz="2400" b="1" spc="-25" dirty="0">
              <a:latin typeface="Cambria"/>
              <a:cs typeface="Cambria"/>
            </a:endParaRPr>
          </a:p>
          <a:p>
            <a:pPr marL="12700">
              <a:lnSpc>
                <a:spcPts val="2680"/>
              </a:lnSpc>
            </a:pPr>
            <a:r>
              <a:rPr lang="en-IN" sz="2000" dirty="0"/>
              <a:t>Rapid adoption of digital payments and online services.</a:t>
            </a:r>
          </a:p>
          <a:p>
            <a:pPr marL="12700">
              <a:lnSpc>
                <a:spcPts val="2680"/>
              </a:lnSpc>
            </a:pPr>
            <a:r>
              <a:rPr lang="en-IN" sz="2000" dirty="0"/>
              <a:t>Cyber fraud is targeting everyday users at an unprecedented scale.</a:t>
            </a:r>
          </a:p>
          <a:p>
            <a:pPr marL="12700">
              <a:lnSpc>
                <a:spcPts val="2680"/>
              </a:lnSpc>
            </a:pPr>
            <a:r>
              <a:rPr lang="en-IN" sz="2000" dirty="0"/>
              <a:t>AI-generated phishing and social engineering attacks are becoming increasingly difficult to detect.</a:t>
            </a:r>
            <a:endParaRPr lang="en-IN" sz="2000" b="1" spc="-25" dirty="0">
              <a:latin typeface="Cambria"/>
              <a:cs typeface="Cambria"/>
            </a:endParaRPr>
          </a:p>
          <a:p>
            <a:pPr marL="12700">
              <a:lnSpc>
                <a:spcPts val="2680"/>
              </a:lnSpc>
            </a:pPr>
            <a:r>
              <a:rPr sz="2400" b="1" dirty="0">
                <a:latin typeface="Cambria"/>
                <a:cs typeface="Cambria"/>
              </a:rPr>
              <a:t>What</a:t>
            </a:r>
            <a:r>
              <a:rPr sz="2400" b="1" spc="-45" dirty="0">
                <a:latin typeface="Cambria"/>
                <a:cs typeface="Cambria"/>
              </a:rPr>
              <a:t> </a:t>
            </a:r>
            <a:r>
              <a:rPr sz="2400" b="1" dirty="0">
                <a:latin typeface="Cambria"/>
                <a:cs typeface="Cambria"/>
              </a:rPr>
              <a:t>happens</a:t>
            </a:r>
            <a:r>
              <a:rPr sz="2400" b="1" spc="-40" dirty="0">
                <a:latin typeface="Cambria"/>
                <a:cs typeface="Cambria"/>
              </a:rPr>
              <a:t> </a:t>
            </a:r>
            <a:r>
              <a:rPr sz="2400" b="1" dirty="0">
                <a:latin typeface="Cambria"/>
                <a:cs typeface="Cambria"/>
              </a:rPr>
              <a:t>if</a:t>
            </a:r>
            <a:r>
              <a:rPr sz="2400" b="1" spc="-40" dirty="0">
                <a:latin typeface="Cambria"/>
                <a:cs typeface="Cambria"/>
              </a:rPr>
              <a:t> </a:t>
            </a:r>
            <a:r>
              <a:rPr sz="2400" b="1" dirty="0">
                <a:latin typeface="Cambria"/>
                <a:cs typeface="Cambria"/>
              </a:rPr>
              <a:t>it</a:t>
            </a:r>
            <a:r>
              <a:rPr sz="2400" b="1" spc="-45" dirty="0">
                <a:latin typeface="Cambria"/>
                <a:cs typeface="Cambria"/>
              </a:rPr>
              <a:t> </a:t>
            </a:r>
            <a:r>
              <a:rPr sz="2400" b="1" dirty="0">
                <a:latin typeface="Cambria"/>
                <a:cs typeface="Cambria"/>
              </a:rPr>
              <a:t>remains</a:t>
            </a:r>
            <a:r>
              <a:rPr sz="2400" b="1" spc="-40" dirty="0">
                <a:latin typeface="Cambria"/>
                <a:cs typeface="Cambria"/>
              </a:rPr>
              <a:t> </a:t>
            </a:r>
            <a:r>
              <a:rPr sz="2400" b="1" spc="-10" dirty="0">
                <a:latin typeface="Cambria"/>
                <a:cs typeface="Cambria"/>
              </a:rPr>
              <a:t>unsolved</a:t>
            </a:r>
            <a:endParaRPr lang="en-IN" sz="2400" b="1" spc="-10" dirty="0">
              <a:latin typeface="Cambria"/>
              <a:cs typeface="Cambria"/>
            </a:endParaRPr>
          </a:p>
          <a:p>
            <a:pPr lvl="1"/>
            <a:r>
              <a:rPr lang="en-IN" dirty="0"/>
              <a:t>Financial Loss </a:t>
            </a:r>
          </a:p>
          <a:p>
            <a:pPr lvl="1"/>
            <a:r>
              <a:rPr lang="en-IN" dirty="0"/>
              <a:t>Identity Theft </a:t>
            </a:r>
          </a:p>
          <a:p>
            <a:pPr lvl="1"/>
            <a:r>
              <a:rPr lang="en-IN" dirty="0"/>
              <a:t>Data &amp; Privacy Breaches </a:t>
            </a:r>
          </a:p>
          <a:p>
            <a:pPr lvl="1"/>
            <a:r>
              <a:rPr lang="en-IN" dirty="0"/>
              <a:t>Reduced Trust in Digital Platforms </a:t>
            </a:r>
          </a:p>
          <a:p>
            <a:pPr marL="12700">
              <a:lnSpc>
                <a:spcPts val="2680"/>
              </a:lnSpc>
            </a:pPr>
            <a:endParaRPr sz="2500" dirty="0">
              <a:latin typeface="Cambria"/>
              <a:cs typeface="Cambria"/>
            </a:endParaRPr>
          </a:p>
        </p:txBody>
      </p:sp>
      <p:sp>
        <p:nvSpPr>
          <p:cNvPr id="12" name="object 12"/>
          <p:cNvSpPr txBox="1"/>
          <p:nvPr/>
        </p:nvSpPr>
        <p:spPr>
          <a:xfrm>
            <a:off x="1028959" y="1935170"/>
            <a:ext cx="12283791" cy="936154"/>
          </a:xfrm>
          <a:prstGeom prst="rect">
            <a:avLst/>
          </a:prstGeom>
        </p:spPr>
        <p:txBody>
          <a:bodyPr vert="horz" wrap="square" lIns="0" tIns="12700" rIns="0" bIns="0" rtlCol="0">
            <a:spAutoFit/>
          </a:bodyPr>
          <a:lstStyle/>
          <a:p>
            <a:pPr marL="12700">
              <a:lnSpc>
                <a:spcPct val="100000"/>
              </a:lnSpc>
              <a:spcBef>
                <a:spcPts val="100"/>
              </a:spcBef>
            </a:pPr>
            <a:r>
              <a:rPr lang="en-IN" sz="2000" dirty="0"/>
              <a:t>Cyber fraud is evolving rapidly through phishing emails, fake job offers, QR-code scams, malicious websites, and social engineering attacks. Most users lack accessible AI-powered tools that can detect these threats and explain them in simple language before damage occurs.</a:t>
            </a:r>
            <a:endParaRPr lang="en-US" sz="2000" dirty="0">
              <a:latin typeface="Cambria"/>
              <a:cs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99335" y="1685990"/>
            <a:ext cx="10615581" cy="874598"/>
          </a:xfrm>
          <a:prstGeom prst="rect">
            <a:avLst/>
          </a:prstGeom>
        </p:spPr>
        <p:txBody>
          <a:bodyPr vert="horz" wrap="square" lIns="0" tIns="12700" rIns="0" bIns="0" rtlCol="0">
            <a:spAutoFit/>
          </a:bodyPr>
          <a:lstStyle/>
          <a:p>
            <a:pPr marL="12700">
              <a:lnSpc>
                <a:spcPct val="100000"/>
              </a:lnSpc>
              <a:spcBef>
                <a:spcPts val="100"/>
              </a:spcBef>
            </a:pPr>
            <a:r>
              <a:rPr lang="en-IN" sz="2800" dirty="0"/>
              <a:t>CyberShield AI</a:t>
            </a:r>
            <a:br>
              <a:rPr lang="en-IN" sz="2800" dirty="0"/>
            </a:br>
            <a:r>
              <a:rPr lang="en-IN" sz="2800" dirty="0"/>
              <a:t>AI-Powered Digital Scam Detection &amp; Prevention Platform</a:t>
            </a:r>
            <a:endParaRPr sz="2800" spc="-50" dirty="0"/>
          </a:p>
        </p:txBody>
      </p:sp>
      <p:sp>
        <p:nvSpPr>
          <p:cNvPr id="3" name="object 3"/>
          <p:cNvSpPr txBox="1"/>
          <p:nvPr/>
        </p:nvSpPr>
        <p:spPr>
          <a:xfrm>
            <a:off x="16887068" y="9788567"/>
            <a:ext cx="7448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03</a:t>
            </a:r>
            <a:r>
              <a:rPr sz="1800" spc="-15" dirty="0">
                <a:latin typeface="Cambria"/>
                <a:cs typeface="Cambria"/>
              </a:rPr>
              <a:t> </a:t>
            </a:r>
            <a:r>
              <a:rPr sz="1800" dirty="0">
                <a:latin typeface="Cambria"/>
                <a:cs typeface="Cambria"/>
              </a:rPr>
              <a:t>/</a:t>
            </a:r>
            <a:r>
              <a:rPr sz="1800" spc="-15" dirty="0">
                <a:latin typeface="Cambria"/>
                <a:cs typeface="Cambria"/>
              </a:rPr>
              <a:t> </a:t>
            </a:r>
            <a:r>
              <a:rPr sz="1800" spc="-25" dirty="0">
                <a:latin typeface="Cambria"/>
                <a:cs typeface="Cambria"/>
              </a:rPr>
              <a:t>05</a:t>
            </a:r>
            <a:endParaRPr sz="1800">
              <a:latin typeface="Cambria"/>
              <a:cs typeface="Cambria"/>
            </a:endParaRPr>
          </a:p>
        </p:txBody>
      </p:sp>
      <p:sp>
        <p:nvSpPr>
          <p:cNvPr id="4" name="object 4"/>
          <p:cNvSpPr txBox="1"/>
          <p:nvPr/>
        </p:nvSpPr>
        <p:spPr>
          <a:xfrm>
            <a:off x="506672" y="9788567"/>
            <a:ext cx="10445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SS26</a:t>
            </a:r>
            <a:r>
              <a:rPr sz="1800" spc="-5" dirty="0">
                <a:latin typeface="Cambria"/>
                <a:cs typeface="Cambria"/>
              </a:rPr>
              <a:t> </a:t>
            </a:r>
            <a:r>
              <a:rPr sz="1800" dirty="0">
                <a:latin typeface="Cambria"/>
                <a:cs typeface="Cambria"/>
              </a:rPr>
              <a:t>·</a:t>
            </a:r>
            <a:r>
              <a:rPr sz="1800" spc="-5" dirty="0">
                <a:latin typeface="Cambria"/>
                <a:cs typeface="Cambria"/>
              </a:rPr>
              <a:t> </a:t>
            </a:r>
            <a:r>
              <a:rPr sz="1800" spc="-25" dirty="0">
                <a:latin typeface="Cambria"/>
                <a:cs typeface="Cambria"/>
              </a:rPr>
              <a:t>AIH</a:t>
            </a:r>
            <a:endParaRPr sz="1800">
              <a:latin typeface="Cambria"/>
              <a:cs typeface="Cambria"/>
            </a:endParaRPr>
          </a:p>
        </p:txBody>
      </p:sp>
      <p:sp>
        <p:nvSpPr>
          <p:cNvPr id="5" name="object 5"/>
          <p:cNvSpPr txBox="1"/>
          <p:nvPr/>
        </p:nvSpPr>
        <p:spPr>
          <a:xfrm>
            <a:off x="1127409" y="1057550"/>
            <a:ext cx="2527935" cy="360680"/>
          </a:xfrm>
          <a:prstGeom prst="rect">
            <a:avLst/>
          </a:prstGeom>
        </p:spPr>
        <p:txBody>
          <a:bodyPr vert="horz" wrap="square" lIns="0" tIns="12700" rIns="0" bIns="0" rtlCol="0">
            <a:spAutoFit/>
          </a:bodyPr>
          <a:lstStyle/>
          <a:p>
            <a:pPr marL="12700">
              <a:lnSpc>
                <a:spcPct val="100000"/>
              </a:lnSpc>
              <a:spcBef>
                <a:spcPts val="100"/>
              </a:spcBef>
              <a:tabLst>
                <a:tab pos="818515" algn="l"/>
              </a:tabLst>
            </a:pPr>
            <a:r>
              <a:rPr sz="2200" b="1" dirty="0">
                <a:latin typeface="Cambria"/>
                <a:cs typeface="Cambria"/>
              </a:rPr>
              <a:t>T</a:t>
            </a:r>
            <a:r>
              <a:rPr sz="2200" b="1" spc="-85" dirty="0">
                <a:latin typeface="Cambria"/>
                <a:cs typeface="Cambria"/>
              </a:rPr>
              <a:t> </a:t>
            </a:r>
            <a:r>
              <a:rPr sz="2200" b="1" dirty="0">
                <a:latin typeface="Cambria"/>
                <a:cs typeface="Cambria"/>
              </a:rPr>
              <a:t>H</a:t>
            </a:r>
            <a:r>
              <a:rPr sz="2200" b="1" spc="-85" dirty="0">
                <a:latin typeface="Cambria"/>
                <a:cs typeface="Cambria"/>
              </a:rPr>
              <a:t> </a:t>
            </a:r>
            <a:r>
              <a:rPr sz="2200" b="1" spc="-50" dirty="0">
                <a:latin typeface="Cambria"/>
                <a:cs typeface="Cambria"/>
              </a:rPr>
              <a:t>E</a:t>
            </a:r>
            <a:r>
              <a:rPr sz="2200" b="1" dirty="0">
                <a:latin typeface="Cambria"/>
                <a:cs typeface="Cambria"/>
              </a:rPr>
              <a:t>	S</a:t>
            </a:r>
            <a:r>
              <a:rPr sz="2200" b="1" spc="-90" dirty="0">
                <a:latin typeface="Cambria"/>
                <a:cs typeface="Cambria"/>
              </a:rPr>
              <a:t> </a:t>
            </a:r>
            <a:r>
              <a:rPr sz="2200" b="1" dirty="0">
                <a:latin typeface="Cambria"/>
                <a:cs typeface="Cambria"/>
              </a:rPr>
              <a:t>O</a:t>
            </a:r>
            <a:r>
              <a:rPr sz="2200" b="1" spc="-90" dirty="0">
                <a:latin typeface="Cambria"/>
                <a:cs typeface="Cambria"/>
              </a:rPr>
              <a:t> </a:t>
            </a:r>
            <a:r>
              <a:rPr sz="2200" b="1" dirty="0">
                <a:latin typeface="Cambria"/>
                <a:cs typeface="Cambria"/>
              </a:rPr>
              <a:t>L</a:t>
            </a:r>
            <a:r>
              <a:rPr sz="2200" b="1" spc="-85" dirty="0">
                <a:latin typeface="Cambria"/>
                <a:cs typeface="Cambria"/>
              </a:rPr>
              <a:t> </a:t>
            </a:r>
            <a:r>
              <a:rPr sz="2200" b="1" dirty="0">
                <a:latin typeface="Cambria"/>
                <a:cs typeface="Cambria"/>
              </a:rPr>
              <a:t>U</a:t>
            </a:r>
            <a:r>
              <a:rPr sz="2200" b="1" spc="-90" dirty="0">
                <a:latin typeface="Cambria"/>
                <a:cs typeface="Cambria"/>
              </a:rPr>
              <a:t> </a:t>
            </a:r>
            <a:r>
              <a:rPr sz="2200" b="1" dirty="0">
                <a:latin typeface="Cambria"/>
                <a:cs typeface="Cambria"/>
              </a:rPr>
              <a:t>T</a:t>
            </a:r>
            <a:r>
              <a:rPr sz="2200" b="1" spc="-85" dirty="0">
                <a:latin typeface="Cambria"/>
                <a:cs typeface="Cambria"/>
              </a:rPr>
              <a:t> </a:t>
            </a:r>
            <a:r>
              <a:rPr sz="2200" b="1" dirty="0">
                <a:latin typeface="Cambria"/>
                <a:cs typeface="Cambria"/>
              </a:rPr>
              <a:t>I</a:t>
            </a:r>
            <a:r>
              <a:rPr sz="2200" b="1" spc="-90" dirty="0">
                <a:latin typeface="Cambria"/>
                <a:cs typeface="Cambria"/>
              </a:rPr>
              <a:t> </a:t>
            </a:r>
            <a:r>
              <a:rPr sz="2200" b="1" dirty="0">
                <a:latin typeface="Cambria"/>
                <a:cs typeface="Cambria"/>
              </a:rPr>
              <a:t>O</a:t>
            </a:r>
            <a:r>
              <a:rPr sz="2200" b="1" spc="-85" dirty="0">
                <a:latin typeface="Cambria"/>
                <a:cs typeface="Cambria"/>
              </a:rPr>
              <a:t> </a:t>
            </a:r>
            <a:r>
              <a:rPr sz="2200" b="1" spc="-50" dirty="0">
                <a:latin typeface="Cambria"/>
                <a:cs typeface="Cambria"/>
              </a:rPr>
              <a:t>N</a:t>
            </a:r>
            <a:endParaRPr sz="2200" dirty="0">
              <a:latin typeface="Cambria"/>
              <a:cs typeface="Cambria"/>
            </a:endParaRPr>
          </a:p>
        </p:txBody>
      </p:sp>
      <p:sp>
        <p:nvSpPr>
          <p:cNvPr id="6" name="object 6"/>
          <p:cNvSpPr txBox="1"/>
          <p:nvPr/>
        </p:nvSpPr>
        <p:spPr>
          <a:xfrm>
            <a:off x="1127558" y="2756473"/>
            <a:ext cx="10454842" cy="1367041"/>
          </a:xfrm>
          <a:prstGeom prst="rect">
            <a:avLst/>
          </a:prstGeom>
        </p:spPr>
        <p:txBody>
          <a:bodyPr vert="horz" wrap="square" lIns="0" tIns="12700" rIns="0" bIns="0" rtlCol="0">
            <a:spAutoFit/>
          </a:bodyPr>
          <a:lstStyle/>
          <a:p>
            <a:pPr marL="12700">
              <a:lnSpc>
                <a:spcPct val="100000"/>
              </a:lnSpc>
              <a:spcBef>
                <a:spcPts val="100"/>
              </a:spcBef>
            </a:pPr>
            <a:r>
              <a:rPr lang="en-IN" sz="2200" dirty="0"/>
              <a:t>CyberShield AI is an AI-first cybersecurity assistant that detects phishing links, malicious QR codes, scam emails, SMS messages, and fraudulent websites. It explains threats in plain language, assigns a real-time risk score, and recommends the safest action before users become victims.</a:t>
            </a:r>
            <a:endParaRPr sz="2200" dirty="0">
              <a:latin typeface="Cambria"/>
              <a:cs typeface="Cambria"/>
            </a:endParaRPr>
          </a:p>
        </p:txBody>
      </p:sp>
      <p:pic>
        <p:nvPicPr>
          <p:cNvPr id="7" name="object 7"/>
          <p:cNvPicPr/>
          <p:nvPr/>
        </p:nvPicPr>
        <p:blipFill>
          <a:blip r:embed="rId2" cstate="print"/>
          <a:stretch>
            <a:fillRect/>
          </a:stretch>
        </p:blipFill>
        <p:spPr>
          <a:xfrm>
            <a:off x="819422" y="6591300"/>
            <a:ext cx="95250" cy="95249"/>
          </a:xfrm>
          <a:prstGeom prst="rect">
            <a:avLst/>
          </a:prstGeom>
        </p:spPr>
      </p:pic>
      <p:pic>
        <p:nvPicPr>
          <p:cNvPr id="8" name="object 8"/>
          <p:cNvPicPr/>
          <p:nvPr/>
        </p:nvPicPr>
        <p:blipFill>
          <a:blip r:embed="rId2" cstate="print"/>
          <a:stretch>
            <a:fillRect/>
          </a:stretch>
        </p:blipFill>
        <p:spPr>
          <a:xfrm>
            <a:off x="819422" y="8420100"/>
            <a:ext cx="95250" cy="95249"/>
          </a:xfrm>
          <a:prstGeom prst="rect">
            <a:avLst/>
          </a:prstGeom>
        </p:spPr>
      </p:pic>
      <p:pic>
        <p:nvPicPr>
          <p:cNvPr id="9" name="object 9"/>
          <p:cNvPicPr/>
          <p:nvPr/>
        </p:nvPicPr>
        <p:blipFill>
          <a:blip r:embed="rId2" cstate="print"/>
          <a:stretch>
            <a:fillRect/>
          </a:stretch>
        </p:blipFill>
        <p:spPr>
          <a:xfrm>
            <a:off x="886709" y="7505700"/>
            <a:ext cx="95250" cy="95249"/>
          </a:xfrm>
          <a:prstGeom prst="rect">
            <a:avLst/>
          </a:prstGeom>
        </p:spPr>
      </p:pic>
      <p:sp>
        <p:nvSpPr>
          <p:cNvPr id="10" name="object 10"/>
          <p:cNvSpPr txBox="1"/>
          <p:nvPr/>
        </p:nvSpPr>
        <p:spPr>
          <a:xfrm>
            <a:off x="1127408" y="4518417"/>
            <a:ext cx="11369391" cy="4519186"/>
          </a:xfrm>
          <a:prstGeom prst="rect">
            <a:avLst/>
          </a:prstGeom>
        </p:spPr>
        <p:txBody>
          <a:bodyPr vert="horz" wrap="square" lIns="0" tIns="12700" rIns="0" bIns="0" rtlCol="0">
            <a:spAutoFit/>
          </a:bodyPr>
          <a:lstStyle/>
          <a:p>
            <a:pPr marL="12700">
              <a:lnSpc>
                <a:spcPts val="3590"/>
              </a:lnSpc>
              <a:spcBef>
                <a:spcPts val="100"/>
              </a:spcBef>
            </a:pPr>
            <a:r>
              <a:rPr sz="2400" b="1" dirty="0">
                <a:latin typeface="Cambria"/>
                <a:cs typeface="Cambria"/>
              </a:rPr>
              <a:t>Proposed </a:t>
            </a:r>
            <a:r>
              <a:rPr sz="2400" b="1" spc="-10" dirty="0">
                <a:latin typeface="Cambria"/>
                <a:cs typeface="Cambria"/>
              </a:rPr>
              <a:t>Solution</a:t>
            </a:r>
            <a:endParaRPr lang="en-IN" sz="2400" b="1" spc="-10" dirty="0">
              <a:latin typeface="Cambria"/>
              <a:cs typeface="Cambria"/>
            </a:endParaRPr>
          </a:p>
          <a:p>
            <a:pPr marL="12700">
              <a:lnSpc>
                <a:spcPts val="3590"/>
              </a:lnSpc>
              <a:spcBef>
                <a:spcPts val="100"/>
              </a:spcBef>
            </a:pPr>
            <a:r>
              <a:rPr lang="en-IN" sz="2000" dirty="0"/>
              <a:t>CyberShield AI provides a single intelligent platform where users can upload or scan suspicious digital content. The AI analyzes threats in seconds, explains the risk in simple language, and recommends safe actions such as Block, Proceed, or Report.</a:t>
            </a:r>
            <a:endParaRPr lang="en-IN" sz="2000" b="1" spc="-10" dirty="0">
              <a:latin typeface="Cambria"/>
              <a:cs typeface="Cambria"/>
            </a:endParaRPr>
          </a:p>
          <a:p>
            <a:r>
              <a:rPr lang="en-IN" sz="2400" b="1" dirty="0"/>
              <a:t>Key Features</a:t>
            </a:r>
          </a:p>
          <a:p>
            <a:r>
              <a:rPr lang="en-IN" sz="2000" dirty="0"/>
              <a:t>Scans links, QR codes, emails, and SMS messages to detect scams and generate an AI-powered risk assessment.</a:t>
            </a:r>
          </a:p>
          <a:p>
            <a:r>
              <a:rPr lang="en-IN" sz="2400" b="1" dirty="0"/>
              <a:t>How It Solves the Problem</a:t>
            </a:r>
          </a:p>
          <a:p>
            <a:r>
              <a:rPr lang="en-IN" sz="2000" dirty="0"/>
              <a:t>Detects threats before users interact with malicious content and provides clear, real-time safety recommendations.</a:t>
            </a:r>
          </a:p>
          <a:p>
            <a:r>
              <a:rPr lang="en-IN" sz="2400" b="1" dirty="0"/>
              <a:t>AI Integration</a:t>
            </a:r>
          </a:p>
          <a:p>
            <a:r>
              <a:rPr lang="en-IN" sz="2000" dirty="0"/>
              <a:t>LLMs • Machine Learning • Computer Vision • Threat Intelligence APIs</a:t>
            </a:r>
          </a:p>
        </p:txBody>
      </p:sp>
      <p:sp>
        <p:nvSpPr>
          <p:cNvPr id="13" name="object 11">
            <a:extLst>
              <a:ext uri="{FF2B5EF4-FFF2-40B4-BE49-F238E27FC236}">
                <a16:creationId xmlns:a16="http://schemas.microsoft.com/office/drawing/2014/main" id="{BEA830C5-DEA9-26B4-5BDA-8B3127DAD1C0}"/>
              </a:ext>
            </a:extLst>
          </p:cNvPr>
          <p:cNvSpPr/>
          <p:nvPr/>
        </p:nvSpPr>
        <p:spPr>
          <a:xfrm>
            <a:off x="216159" y="4521059"/>
            <a:ext cx="581025" cy="581025"/>
          </a:xfrm>
          <a:custGeom>
            <a:avLst/>
            <a:gdLst/>
            <a:ahLst/>
            <a:cxnLst/>
            <a:rect l="l" t="t" r="r" b="b"/>
            <a:pathLst>
              <a:path w="581025" h="581025">
                <a:moveTo>
                  <a:pt x="421081" y="292379"/>
                </a:moveTo>
                <a:lnTo>
                  <a:pt x="420916" y="291985"/>
                </a:lnTo>
                <a:lnTo>
                  <a:pt x="420916" y="290830"/>
                </a:lnTo>
                <a:lnTo>
                  <a:pt x="420090" y="290017"/>
                </a:lnTo>
                <a:lnTo>
                  <a:pt x="419049" y="287502"/>
                </a:lnTo>
                <a:lnTo>
                  <a:pt x="301066" y="169430"/>
                </a:lnTo>
                <a:lnTo>
                  <a:pt x="293357" y="169430"/>
                </a:lnTo>
                <a:lnTo>
                  <a:pt x="283781" y="178930"/>
                </a:lnTo>
                <a:lnTo>
                  <a:pt x="283781" y="186639"/>
                </a:lnTo>
                <a:lnTo>
                  <a:pt x="382524" y="285394"/>
                </a:lnTo>
                <a:lnTo>
                  <a:pt x="167335" y="285394"/>
                </a:lnTo>
                <a:lnTo>
                  <a:pt x="161886" y="290830"/>
                </a:lnTo>
                <a:lnTo>
                  <a:pt x="161886" y="304304"/>
                </a:lnTo>
                <a:lnTo>
                  <a:pt x="167335" y="309740"/>
                </a:lnTo>
                <a:lnTo>
                  <a:pt x="382524" y="309740"/>
                </a:lnTo>
                <a:lnTo>
                  <a:pt x="283781" y="408419"/>
                </a:lnTo>
                <a:lnTo>
                  <a:pt x="283781" y="416128"/>
                </a:lnTo>
                <a:lnTo>
                  <a:pt x="290918" y="423265"/>
                </a:lnTo>
                <a:lnTo>
                  <a:pt x="294081" y="424484"/>
                </a:lnTo>
                <a:lnTo>
                  <a:pt x="297167" y="424484"/>
                </a:lnTo>
                <a:lnTo>
                  <a:pt x="300253" y="424484"/>
                </a:lnTo>
                <a:lnTo>
                  <a:pt x="303415" y="423265"/>
                </a:lnTo>
                <a:lnTo>
                  <a:pt x="419049" y="307708"/>
                </a:lnTo>
                <a:lnTo>
                  <a:pt x="420116" y="305104"/>
                </a:lnTo>
                <a:lnTo>
                  <a:pt x="420916" y="304304"/>
                </a:lnTo>
                <a:lnTo>
                  <a:pt x="420916" y="303174"/>
                </a:lnTo>
                <a:lnTo>
                  <a:pt x="421081" y="302768"/>
                </a:lnTo>
                <a:lnTo>
                  <a:pt x="421081" y="292379"/>
                </a:lnTo>
                <a:close/>
              </a:path>
              <a:path w="581025" h="581025">
                <a:moveTo>
                  <a:pt x="580948" y="290512"/>
                </a:moveTo>
                <a:lnTo>
                  <a:pt x="577138" y="243446"/>
                </a:lnTo>
                <a:lnTo>
                  <a:pt x="566115" y="198780"/>
                </a:lnTo>
                <a:lnTo>
                  <a:pt x="556602" y="176301"/>
                </a:lnTo>
                <a:lnTo>
                  <a:pt x="556602" y="290512"/>
                </a:lnTo>
                <a:lnTo>
                  <a:pt x="552310" y="338302"/>
                </a:lnTo>
                <a:lnTo>
                  <a:pt x="539940" y="383298"/>
                </a:lnTo>
                <a:lnTo>
                  <a:pt x="520230" y="424764"/>
                </a:lnTo>
                <a:lnTo>
                  <a:pt x="493966" y="461911"/>
                </a:lnTo>
                <a:lnTo>
                  <a:pt x="461886" y="494017"/>
                </a:lnTo>
                <a:lnTo>
                  <a:pt x="424738" y="520293"/>
                </a:lnTo>
                <a:lnTo>
                  <a:pt x="383298" y="540004"/>
                </a:lnTo>
                <a:lnTo>
                  <a:pt x="338302" y="552386"/>
                </a:lnTo>
                <a:lnTo>
                  <a:pt x="290512" y="556679"/>
                </a:lnTo>
                <a:lnTo>
                  <a:pt x="242722" y="552386"/>
                </a:lnTo>
                <a:lnTo>
                  <a:pt x="197713" y="540004"/>
                </a:lnTo>
                <a:lnTo>
                  <a:pt x="156260" y="520293"/>
                </a:lnTo>
                <a:lnTo>
                  <a:pt x="119113" y="494017"/>
                </a:lnTo>
                <a:lnTo>
                  <a:pt x="87007" y="461911"/>
                </a:lnTo>
                <a:lnTo>
                  <a:pt x="60731" y="424764"/>
                </a:lnTo>
                <a:lnTo>
                  <a:pt x="41021" y="383298"/>
                </a:lnTo>
                <a:lnTo>
                  <a:pt x="28638" y="338302"/>
                </a:lnTo>
                <a:lnTo>
                  <a:pt x="28575" y="337553"/>
                </a:lnTo>
                <a:lnTo>
                  <a:pt x="24345" y="290512"/>
                </a:lnTo>
                <a:lnTo>
                  <a:pt x="28638" y="242722"/>
                </a:lnTo>
                <a:lnTo>
                  <a:pt x="41021" y="197713"/>
                </a:lnTo>
                <a:lnTo>
                  <a:pt x="60731" y="156260"/>
                </a:lnTo>
                <a:lnTo>
                  <a:pt x="87071" y="119049"/>
                </a:lnTo>
                <a:lnTo>
                  <a:pt x="119113" y="87007"/>
                </a:lnTo>
                <a:lnTo>
                  <a:pt x="156260" y="60731"/>
                </a:lnTo>
                <a:lnTo>
                  <a:pt x="197713" y="41021"/>
                </a:lnTo>
                <a:lnTo>
                  <a:pt x="242722" y="28638"/>
                </a:lnTo>
                <a:lnTo>
                  <a:pt x="290512" y="24345"/>
                </a:lnTo>
                <a:lnTo>
                  <a:pt x="338277" y="28638"/>
                </a:lnTo>
                <a:lnTo>
                  <a:pt x="383260" y="41021"/>
                </a:lnTo>
                <a:lnTo>
                  <a:pt x="424700" y="60731"/>
                </a:lnTo>
                <a:lnTo>
                  <a:pt x="461848" y="87007"/>
                </a:lnTo>
                <a:lnTo>
                  <a:pt x="493890" y="119049"/>
                </a:lnTo>
                <a:lnTo>
                  <a:pt x="520217" y="156260"/>
                </a:lnTo>
                <a:lnTo>
                  <a:pt x="539927" y="197713"/>
                </a:lnTo>
                <a:lnTo>
                  <a:pt x="552310" y="242722"/>
                </a:lnTo>
                <a:lnTo>
                  <a:pt x="552373" y="243446"/>
                </a:lnTo>
                <a:lnTo>
                  <a:pt x="556602" y="290512"/>
                </a:lnTo>
                <a:lnTo>
                  <a:pt x="556602" y="176301"/>
                </a:lnTo>
                <a:lnTo>
                  <a:pt x="548487" y="157111"/>
                </a:lnTo>
                <a:lnTo>
                  <a:pt x="524840" y="119049"/>
                </a:lnTo>
                <a:lnTo>
                  <a:pt x="495795" y="85178"/>
                </a:lnTo>
                <a:lnTo>
                  <a:pt x="461949" y="56121"/>
                </a:lnTo>
                <a:lnTo>
                  <a:pt x="423887" y="32473"/>
                </a:lnTo>
                <a:lnTo>
                  <a:pt x="404685" y="24345"/>
                </a:lnTo>
                <a:lnTo>
                  <a:pt x="382231" y="14833"/>
                </a:lnTo>
                <a:lnTo>
                  <a:pt x="337566" y="3810"/>
                </a:lnTo>
                <a:lnTo>
                  <a:pt x="290512" y="0"/>
                </a:lnTo>
                <a:lnTo>
                  <a:pt x="243484" y="3810"/>
                </a:lnTo>
                <a:lnTo>
                  <a:pt x="198818" y="14833"/>
                </a:lnTo>
                <a:lnTo>
                  <a:pt x="157149" y="32473"/>
                </a:lnTo>
                <a:lnTo>
                  <a:pt x="119087" y="56121"/>
                </a:lnTo>
                <a:lnTo>
                  <a:pt x="85217" y="85178"/>
                </a:lnTo>
                <a:lnTo>
                  <a:pt x="56159" y="119049"/>
                </a:lnTo>
                <a:lnTo>
                  <a:pt x="32499" y="157111"/>
                </a:lnTo>
                <a:lnTo>
                  <a:pt x="14846" y="198780"/>
                </a:lnTo>
                <a:lnTo>
                  <a:pt x="3810" y="243446"/>
                </a:lnTo>
                <a:lnTo>
                  <a:pt x="0" y="290512"/>
                </a:lnTo>
                <a:lnTo>
                  <a:pt x="3810" y="337553"/>
                </a:lnTo>
                <a:lnTo>
                  <a:pt x="14833" y="382193"/>
                </a:lnTo>
                <a:lnTo>
                  <a:pt x="32473" y="423849"/>
                </a:lnTo>
                <a:lnTo>
                  <a:pt x="56121" y="461911"/>
                </a:lnTo>
                <a:lnTo>
                  <a:pt x="85191" y="495769"/>
                </a:lnTo>
                <a:lnTo>
                  <a:pt x="119049" y="524814"/>
                </a:lnTo>
                <a:lnTo>
                  <a:pt x="157124" y="548462"/>
                </a:lnTo>
                <a:lnTo>
                  <a:pt x="198793" y="566102"/>
                </a:lnTo>
                <a:lnTo>
                  <a:pt x="243459" y="577126"/>
                </a:lnTo>
                <a:lnTo>
                  <a:pt x="290525" y="580936"/>
                </a:lnTo>
                <a:lnTo>
                  <a:pt x="291503" y="580936"/>
                </a:lnTo>
                <a:lnTo>
                  <a:pt x="338556" y="577126"/>
                </a:lnTo>
                <a:lnTo>
                  <a:pt x="337883" y="577126"/>
                </a:lnTo>
                <a:lnTo>
                  <a:pt x="382524" y="566102"/>
                </a:lnTo>
                <a:lnTo>
                  <a:pt x="382384" y="566102"/>
                </a:lnTo>
                <a:lnTo>
                  <a:pt x="404647" y="556679"/>
                </a:lnTo>
                <a:lnTo>
                  <a:pt x="423976" y="548462"/>
                </a:lnTo>
                <a:lnTo>
                  <a:pt x="462000" y="524814"/>
                </a:lnTo>
                <a:lnTo>
                  <a:pt x="495833" y="495769"/>
                </a:lnTo>
                <a:lnTo>
                  <a:pt x="524865" y="461911"/>
                </a:lnTo>
                <a:lnTo>
                  <a:pt x="548487" y="423849"/>
                </a:lnTo>
                <a:lnTo>
                  <a:pt x="566115" y="382193"/>
                </a:lnTo>
                <a:lnTo>
                  <a:pt x="577138" y="337553"/>
                </a:lnTo>
                <a:lnTo>
                  <a:pt x="580948" y="290512"/>
                </a:lnTo>
                <a:close/>
              </a:path>
            </a:pathLst>
          </a:custGeom>
          <a:solidFill>
            <a:srgbClr val="363336"/>
          </a:solidFill>
        </p:spPr>
        <p:txBody>
          <a:bodyPr wrap="square" lIns="0" tIns="0" rIns="0" bIns="0" rtlCol="0"/>
          <a:lstStyle/>
          <a:p>
            <a:endParaRPr/>
          </a:p>
        </p:txBody>
      </p:sp>
      <p:sp>
        <p:nvSpPr>
          <p:cNvPr id="17" name="TextBox 16">
            <a:extLst>
              <a:ext uri="{FF2B5EF4-FFF2-40B4-BE49-F238E27FC236}">
                <a16:creationId xmlns:a16="http://schemas.microsoft.com/office/drawing/2014/main" id="{D5815AAC-B585-CA32-80B7-E11D822BD1F8}"/>
              </a:ext>
            </a:extLst>
          </p:cNvPr>
          <p:cNvSpPr txBox="1"/>
          <p:nvPr/>
        </p:nvSpPr>
        <p:spPr>
          <a:xfrm>
            <a:off x="13335000" y="800100"/>
            <a:ext cx="3352800" cy="8402300"/>
          </a:xfrm>
          <a:prstGeom prst="rect">
            <a:avLst/>
          </a:prstGeom>
          <a:noFill/>
        </p:spPr>
        <p:txBody>
          <a:bodyPr wrap="square">
            <a:spAutoFit/>
          </a:bodyPr>
          <a:lstStyle/>
          <a:p>
            <a:r>
              <a:rPr lang="en-IN" dirty="0"/>
              <a:t>┌───────────────┐</a:t>
            </a:r>
          </a:p>
          <a:p>
            <a:r>
              <a:rPr lang="en-IN" dirty="0"/>
              <a:t>│ User Uploads  │</a:t>
            </a:r>
          </a:p>
          <a:p>
            <a:r>
              <a:rPr lang="en-IN" dirty="0"/>
              <a:t>│ Link / QR /   │</a:t>
            </a:r>
          </a:p>
          <a:p>
            <a:r>
              <a:rPr lang="en-IN" dirty="0"/>
              <a:t>│ Email / SMS   │</a:t>
            </a:r>
          </a:p>
          <a:p>
            <a:r>
              <a:rPr lang="en-IN" dirty="0"/>
              <a:t>└──────┬────────┘</a:t>
            </a:r>
          </a:p>
          <a:p>
            <a:r>
              <a:rPr lang="en-IN" dirty="0"/>
              <a:t>       │</a:t>
            </a:r>
          </a:p>
          <a:p>
            <a:r>
              <a:rPr lang="en-IN" dirty="0"/>
              <a:t>       ▼</a:t>
            </a:r>
          </a:p>
          <a:p>
            <a:r>
              <a:rPr lang="en-IN" dirty="0"/>
              <a:t>┌───────────────┐</a:t>
            </a:r>
          </a:p>
          <a:p>
            <a:r>
              <a:rPr lang="en-IN" dirty="0"/>
              <a:t>│ CyberShield   │</a:t>
            </a:r>
          </a:p>
          <a:p>
            <a:r>
              <a:rPr lang="en-IN" dirty="0"/>
              <a:t>│ AI Engine     │</a:t>
            </a:r>
          </a:p>
          <a:p>
            <a:r>
              <a:rPr lang="en-IN" dirty="0"/>
              <a:t>└──────┬────────┘</a:t>
            </a:r>
          </a:p>
          <a:p>
            <a:r>
              <a:rPr lang="en-IN" dirty="0"/>
              <a:t>       │</a:t>
            </a:r>
          </a:p>
          <a:p>
            <a:r>
              <a:rPr lang="en-IN" dirty="0"/>
              <a:t>       ▼</a:t>
            </a:r>
          </a:p>
          <a:p>
            <a:r>
              <a:rPr lang="en-IN" dirty="0"/>
              <a:t>┌───────────────┐</a:t>
            </a:r>
          </a:p>
          <a:p>
            <a:r>
              <a:rPr lang="en-IN" dirty="0"/>
              <a:t>│ AI Threat     │</a:t>
            </a:r>
          </a:p>
          <a:p>
            <a:r>
              <a:rPr lang="en-IN" dirty="0"/>
              <a:t>│ Analysis      │</a:t>
            </a:r>
          </a:p>
          <a:p>
            <a:r>
              <a:rPr lang="en-IN" dirty="0"/>
              <a:t>└──────┬────────┘</a:t>
            </a:r>
          </a:p>
          <a:p>
            <a:r>
              <a:rPr lang="en-IN" dirty="0"/>
              <a:t>       │</a:t>
            </a:r>
          </a:p>
          <a:p>
            <a:r>
              <a:rPr lang="en-IN" dirty="0"/>
              <a:t>       ▼</a:t>
            </a:r>
          </a:p>
          <a:p>
            <a:r>
              <a:rPr lang="en-IN" dirty="0"/>
              <a:t>┌───────────────┐</a:t>
            </a:r>
          </a:p>
          <a:p>
            <a:r>
              <a:rPr lang="en-IN" dirty="0"/>
              <a:t>│ Risk Score &amp;  │</a:t>
            </a:r>
          </a:p>
          <a:p>
            <a:r>
              <a:rPr lang="en-IN" dirty="0"/>
              <a:t>│ Explanation   │</a:t>
            </a:r>
          </a:p>
          <a:p>
            <a:r>
              <a:rPr lang="en-IN" dirty="0"/>
              <a:t>└──────┬────────┘</a:t>
            </a:r>
          </a:p>
          <a:p>
            <a:r>
              <a:rPr lang="en-IN" dirty="0"/>
              <a:t>       │</a:t>
            </a:r>
          </a:p>
          <a:p>
            <a:r>
              <a:rPr lang="en-IN" dirty="0"/>
              <a:t>       ▼</a:t>
            </a:r>
          </a:p>
          <a:p>
            <a:r>
              <a:rPr lang="en-IN" dirty="0"/>
              <a:t>┌───────────────┐</a:t>
            </a:r>
          </a:p>
          <a:p>
            <a:r>
              <a:rPr lang="en-IN" dirty="0"/>
              <a:t>│ Safe Action   │</a:t>
            </a:r>
          </a:p>
          <a:p>
            <a:r>
              <a:rPr lang="en-IN" dirty="0"/>
              <a:t>│ Block/Proceed │</a:t>
            </a:r>
          </a:p>
          <a:p>
            <a:r>
              <a:rPr lang="en-IN" dirty="0"/>
              <a:t>│ Report        │</a:t>
            </a:r>
          </a:p>
          <a:p>
            <a:r>
              <a:rPr lang="en-IN"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91331" y="2968417"/>
            <a:ext cx="85725" cy="85724"/>
          </a:xfrm>
          <a:prstGeom prst="rect">
            <a:avLst/>
          </a:prstGeom>
        </p:spPr>
      </p:pic>
      <p:sp>
        <p:nvSpPr>
          <p:cNvPr id="3" name="object 3"/>
          <p:cNvSpPr txBox="1"/>
          <p:nvPr/>
        </p:nvSpPr>
        <p:spPr>
          <a:xfrm>
            <a:off x="2076303" y="2780737"/>
            <a:ext cx="6839097" cy="1322029"/>
          </a:xfrm>
          <a:prstGeom prst="rect">
            <a:avLst/>
          </a:prstGeom>
        </p:spPr>
        <p:txBody>
          <a:bodyPr vert="horz" wrap="square" lIns="0" tIns="24765" rIns="0" bIns="0" rtlCol="0">
            <a:spAutoFit/>
          </a:bodyPr>
          <a:lstStyle/>
          <a:p>
            <a:pPr marL="12700" marR="5080">
              <a:lnSpc>
                <a:spcPts val="2630"/>
              </a:lnSpc>
              <a:spcBef>
                <a:spcPts val="195"/>
              </a:spcBef>
            </a:pPr>
            <a:r>
              <a:rPr lang="en-IN" sz="1600" dirty="0"/>
              <a:t>Unlike traditional cybersecurity tools that only detect threats, CyberShield AI explains risks in simple language, analyzes multiple scam types (links, QR codes, emails, SMS, and websites) on a single platform, and provides AI-powered, real-time safety recommendations for non-technical users.</a:t>
            </a:r>
            <a:endParaRPr sz="1600" dirty="0">
              <a:latin typeface="Cambria"/>
              <a:cs typeface="Cambria"/>
            </a:endParaRPr>
          </a:p>
        </p:txBody>
      </p:sp>
      <p:pic>
        <p:nvPicPr>
          <p:cNvPr id="4" name="object 4"/>
          <p:cNvPicPr/>
          <p:nvPr/>
        </p:nvPicPr>
        <p:blipFill>
          <a:blip r:embed="rId2" cstate="print"/>
          <a:stretch>
            <a:fillRect/>
          </a:stretch>
        </p:blipFill>
        <p:spPr>
          <a:xfrm>
            <a:off x="1688507" y="4388105"/>
            <a:ext cx="85725" cy="85724"/>
          </a:xfrm>
          <a:prstGeom prst="rect">
            <a:avLst/>
          </a:prstGeom>
        </p:spPr>
      </p:pic>
      <p:sp>
        <p:nvSpPr>
          <p:cNvPr id="5" name="object 5"/>
          <p:cNvSpPr txBox="1"/>
          <p:nvPr/>
        </p:nvSpPr>
        <p:spPr>
          <a:xfrm>
            <a:off x="2076303" y="4288430"/>
            <a:ext cx="6129020" cy="1964640"/>
          </a:xfrm>
          <a:prstGeom prst="rect">
            <a:avLst/>
          </a:prstGeom>
        </p:spPr>
        <p:txBody>
          <a:bodyPr vert="horz" wrap="square" lIns="0" tIns="12700" rIns="0" bIns="0" rtlCol="0">
            <a:spAutoFit/>
          </a:bodyPr>
          <a:lstStyle/>
          <a:p>
            <a:r>
              <a:rPr lang="en-IN" b="1" dirty="0"/>
              <a:t>Unique AI Workflow</a:t>
            </a:r>
            <a:endParaRPr lang="en-IN" dirty="0"/>
          </a:p>
          <a:p>
            <a:r>
              <a:rPr lang="en-IN" dirty="0"/>
              <a:t>Multi-modal analysis (Links, QR Codes, Emails &amp; SMS) </a:t>
            </a:r>
          </a:p>
          <a:p>
            <a:r>
              <a:rPr lang="en-IN" dirty="0"/>
              <a:t>Large Language Models (LLMs) for threat explanation </a:t>
            </a:r>
          </a:p>
          <a:p>
            <a:r>
              <a:rPr lang="en-IN" dirty="0"/>
              <a:t>Computer Vision (OCR) for QR code analysis </a:t>
            </a:r>
          </a:p>
          <a:p>
            <a:r>
              <a:rPr lang="en-IN" dirty="0"/>
              <a:t>Threat Intelligence APIs for URL &amp; domain verification </a:t>
            </a:r>
          </a:p>
          <a:p>
            <a:r>
              <a:rPr lang="en-IN" dirty="0"/>
              <a:t>AI-generated risk scoring with safe action recommendations</a:t>
            </a:r>
          </a:p>
          <a:p>
            <a:pPr marL="12700">
              <a:lnSpc>
                <a:spcPct val="100000"/>
              </a:lnSpc>
              <a:spcBef>
                <a:spcPts val="100"/>
              </a:spcBef>
            </a:pPr>
            <a:endParaRPr dirty="0">
              <a:latin typeface="Cambria"/>
              <a:cs typeface="Cambria"/>
            </a:endParaRPr>
          </a:p>
        </p:txBody>
      </p:sp>
      <p:pic>
        <p:nvPicPr>
          <p:cNvPr id="6" name="object 6"/>
          <p:cNvPicPr/>
          <p:nvPr/>
        </p:nvPicPr>
        <p:blipFill>
          <a:blip r:embed="rId2" cstate="print"/>
          <a:stretch>
            <a:fillRect/>
          </a:stretch>
        </p:blipFill>
        <p:spPr>
          <a:xfrm>
            <a:off x="1686466" y="6190002"/>
            <a:ext cx="85725" cy="85724"/>
          </a:xfrm>
          <a:prstGeom prst="rect">
            <a:avLst/>
          </a:prstGeom>
        </p:spPr>
      </p:pic>
      <p:sp>
        <p:nvSpPr>
          <p:cNvPr id="7" name="object 7"/>
          <p:cNvSpPr txBox="1"/>
          <p:nvPr/>
        </p:nvSpPr>
        <p:spPr>
          <a:xfrm>
            <a:off x="2055685" y="6087569"/>
            <a:ext cx="5746115" cy="1674817"/>
          </a:xfrm>
          <a:prstGeom prst="rect">
            <a:avLst/>
          </a:prstGeom>
        </p:spPr>
        <p:txBody>
          <a:bodyPr vert="horz" wrap="square" lIns="0" tIns="12700" rIns="0" bIns="0" rtlCol="0">
            <a:spAutoFit/>
          </a:bodyPr>
          <a:lstStyle/>
          <a:p>
            <a:pPr marL="12700">
              <a:lnSpc>
                <a:spcPct val="100000"/>
              </a:lnSpc>
              <a:spcBef>
                <a:spcPts val="100"/>
              </a:spcBef>
            </a:pPr>
            <a:r>
              <a:rPr lang="en-IN" dirty="0"/>
              <a:t>Unlike Google Safe Browsing and VirusTotal, CyberShield AI not only detects suspicious content but also explains the threat in plain language, analyzes multiple scam types (links, QR codes, emails, SMS, and websites), and provides AI-powered safety recommendations tailored for non-technical users.</a:t>
            </a:r>
            <a:endParaRPr dirty="0">
              <a:latin typeface="Cambria"/>
              <a:cs typeface="Cambria"/>
            </a:endParaRPr>
          </a:p>
        </p:txBody>
      </p:sp>
      <p:pic>
        <p:nvPicPr>
          <p:cNvPr id="8" name="object 8"/>
          <p:cNvPicPr/>
          <p:nvPr/>
        </p:nvPicPr>
        <p:blipFill>
          <a:blip r:embed="rId2" cstate="print"/>
          <a:stretch>
            <a:fillRect/>
          </a:stretch>
        </p:blipFill>
        <p:spPr>
          <a:xfrm>
            <a:off x="1651087" y="7991899"/>
            <a:ext cx="85725" cy="85724"/>
          </a:xfrm>
          <a:prstGeom prst="rect">
            <a:avLst/>
          </a:prstGeom>
        </p:spPr>
      </p:pic>
      <p:sp>
        <p:nvSpPr>
          <p:cNvPr id="9" name="object 9"/>
          <p:cNvSpPr txBox="1"/>
          <p:nvPr/>
        </p:nvSpPr>
        <p:spPr>
          <a:xfrm>
            <a:off x="2076303" y="7865858"/>
            <a:ext cx="6930676" cy="2015232"/>
          </a:xfrm>
          <a:prstGeom prst="rect">
            <a:avLst/>
          </a:prstGeom>
        </p:spPr>
        <p:txBody>
          <a:bodyPr vert="horz" wrap="square" lIns="0" tIns="24765" rIns="0" bIns="0" rtlCol="0">
            <a:spAutoFit/>
          </a:bodyPr>
          <a:lstStyle/>
          <a:p>
            <a:r>
              <a:rPr lang="en-IN" b="1" dirty="0"/>
              <a:t>Why AI-First?</a:t>
            </a:r>
            <a:endParaRPr lang="en-IN" dirty="0"/>
          </a:p>
          <a:p>
            <a:r>
              <a:rPr lang="en-IN" dirty="0"/>
              <a:t>Adapts to evolving scam techniques. </a:t>
            </a:r>
          </a:p>
          <a:p>
            <a:r>
              <a:rPr lang="en-IN" dirty="0"/>
              <a:t>Understands context, not just keywords. </a:t>
            </a:r>
          </a:p>
          <a:p>
            <a:r>
              <a:rPr lang="en-IN" dirty="0"/>
              <a:t>Explains threats in simple language. </a:t>
            </a:r>
          </a:p>
          <a:p>
            <a:r>
              <a:rPr lang="en-IN" dirty="0"/>
              <a:t>Detects previously unseen phishing attempts. </a:t>
            </a:r>
          </a:p>
          <a:p>
            <a:r>
              <a:rPr lang="en-IN" dirty="0"/>
              <a:t>Continuously improves with new data.</a:t>
            </a:r>
          </a:p>
          <a:p>
            <a:pPr marL="12700" marR="5080">
              <a:lnSpc>
                <a:spcPts val="2630"/>
              </a:lnSpc>
              <a:spcBef>
                <a:spcPts val="195"/>
              </a:spcBef>
            </a:pPr>
            <a:endParaRPr dirty="0">
              <a:latin typeface="Cambria"/>
              <a:cs typeface="Cambria"/>
            </a:endParaRPr>
          </a:p>
        </p:txBody>
      </p:sp>
      <p:sp>
        <p:nvSpPr>
          <p:cNvPr id="10" name="object 10"/>
          <p:cNvSpPr txBox="1"/>
          <p:nvPr/>
        </p:nvSpPr>
        <p:spPr>
          <a:xfrm>
            <a:off x="10883412" y="4005611"/>
            <a:ext cx="5120001" cy="938719"/>
          </a:xfrm>
          <a:prstGeom prst="rect">
            <a:avLst/>
          </a:prstGeom>
        </p:spPr>
        <p:txBody>
          <a:bodyPr vert="horz" wrap="square" lIns="0" tIns="35560" rIns="0" bIns="0" rtlCol="0">
            <a:spAutoFit/>
          </a:bodyPr>
          <a:lstStyle/>
          <a:p>
            <a:pPr marL="12700">
              <a:lnSpc>
                <a:spcPct val="100000"/>
              </a:lnSpc>
              <a:spcBef>
                <a:spcPts val="280"/>
              </a:spcBef>
            </a:pPr>
            <a:r>
              <a:rPr sz="2100" b="1" dirty="0">
                <a:latin typeface="Cambria"/>
                <a:cs typeface="Cambria"/>
              </a:rPr>
              <a:t>AI</a:t>
            </a:r>
            <a:r>
              <a:rPr sz="2100" b="1" spc="-15" dirty="0">
                <a:latin typeface="Cambria"/>
                <a:cs typeface="Cambria"/>
              </a:rPr>
              <a:t> </a:t>
            </a:r>
            <a:r>
              <a:rPr sz="2100" b="1" dirty="0">
                <a:latin typeface="Cambria"/>
                <a:cs typeface="Cambria"/>
              </a:rPr>
              <a:t>/</a:t>
            </a:r>
            <a:r>
              <a:rPr sz="2100" b="1" spc="-10" dirty="0">
                <a:latin typeface="Cambria"/>
                <a:cs typeface="Cambria"/>
              </a:rPr>
              <a:t> </a:t>
            </a:r>
            <a:r>
              <a:rPr sz="2100" b="1" dirty="0">
                <a:latin typeface="Cambria"/>
                <a:cs typeface="Cambria"/>
              </a:rPr>
              <a:t>Model</a:t>
            </a:r>
            <a:r>
              <a:rPr sz="2100" b="1" spc="-10" dirty="0">
                <a:latin typeface="Cambria"/>
                <a:cs typeface="Cambria"/>
              </a:rPr>
              <a:t> Layer</a:t>
            </a:r>
            <a:endParaRPr sz="2100" dirty="0">
              <a:latin typeface="Cambria"/>
              <a:cs typeface="Cambria"/>
            </a:endParaRPr>
          </a:p>
          <a:p>
            <a:pPr marL="12700">
              <a:lnSpc>
                <a:spcPct val="100000"/>
              </a:lnSpc>
              <a:spcBef>
                <a:spcPts val="155"/>
              </a:spcBef>
            </a:pPr>
            <a:r>
              <a:rPr lang="en-IN" dirty="0"/>
              <a:t>Google Gemini API (LLM) Phishing Detection Model Computer Vision (OCR) AI Risk Scoring</a:t>
            </a:r>
            <a:endParaRPr sz="1800" dirty="0">
              <a:latin typeface="Cambria"/>
              <a:cs typeface="Cambria"/>
            </a:endParaRPr>
          </a:p>
        </p:txBody>
      </p:sp>
      <p:sp>
        <p:nvSpPr>
          <p:cNvPr id="11" name="object 11"/>
          <p:cNvSpPr txBox="1"/>
          <p:nvPr/>
        </p:nvSpPr>
        <p:spPr>
          <a:xfrm>
            <a:off x="10883412" y="5164394"/>
            <a:ext cx="4966188" cy="1027204"/>
          </a:xfrm>
          <a:prstGeom prst="rect">
            <a:avLst/>
          </a:prstGeom>
        </p:spPr>
        <p:txBody>
          <a:bodyPr vert="horz" wrap="square" lIns="0" tIns="85090" rIns="0" bIns="0" rtlCol="0">
            <a:spAutoFit/>
          </a:bodyPr>
          <a:lstStyle/>
          <a:p>
            <a:pPr marL="12700">
              <a:lnSpc>
                <a:spcPct val="100000"/>
              </a:lnSpc>
              <a:spcBef>
                <a:spcPts val="670"/>
              </a:spcBef>
            </a:pPr>
            <a:r>
              <a:rPr sz="2100" b="1" dirty="0">
                <a:latin typeface="Cambria"/>
                <a:cs typeface="Cambria"/>
              </a:rPr>
              <a:t>Agents &amp; </a:t>
            </a:r>
            <a:r>
              <a:rPr sz="2100" b="1" spc="-10" dirty="0">
                <a:latin typeface="Cambria"/>
                <a:cs typeface="Cambria"/>
              </a:rPr>
              <a:t>Automation</a:t>
            </a:r>
            <a:endParaRPr sz="2100" dirty="0">
              <a:latin typeface="Cambria"/>
              <a:cs typeface="Cambria"/>
            </a:endParaRPr>
          </a:p>
          <a:p>
            <a:pPr marL="34925">
              <a:lnSpc>
                <a:spcPct val="100000"/>
              </a:lnSpc>
              <a:spcBef>
                <a:spcPts val="490"/>
              </a:spcBef>
            </a:pPr>
            <a:r>
              <a:rPr lang="en-IN" dirty="0"/>
              <a:t>Prompt Engineering AI Decision Engine Explainable AI (XAI) Automated Threat Analysis</a:t>
            </a:r>
            <a:endParaRPr sz="1800" dirty="0">
              <a:latin typeface="Cambria"/>
              <a:cs typeface="Cambria"/>
            </a:endParaRPr>
          </a:p>
        </p:txBody>
      </p:sp>
      <p:sp>
        <p:nvSpPr>
          <p:cNvPr id="12" name="object 12"/>
          <p:cNvSpPr txBox="1"/>
          <p:nvPr/>
        </p:nvSpPr>
        <p:spPr>
          <a:xfrm>
            <a:off x="10883412" y="6336261"/>
            <a:ext cx="3935163" cy="1005403"/>
          </a:xfrm>
          <a:prstGeom prst="rect">
            <a:avLst/>
          </a:prstGeom>
        </p:spPr>
        <p:txBody>
          <a:bodyPr vert="horz" wrap="square" lIns="0" tIns="76200" rIns="0" bIns="0" rtlCol="0">
            <a:spAutoFit/>
          </a:bodyPr>
          <a:lstStyle/>
          <a:p>
            <a:pPr marL="12700">
              <a:lnSpc>
                <a:spcPct val="100000"/>
              </a:lnSpc>
              <a:spcBef>
                <a:spcPts val="600"/>
              </a:spcBef>
            </a:pPr>
            <a:r>
              <a:rPr sz="2100" b="1" dirty="0">
                <a:latin typeface="Cambria"/>
                <a:cs typeface="Cambria"/>
              </a:rPr>
              <a:t>App &amp; </a:t>
            </a:r>
            <a:r>
              <a:rPr sz="2100" b="1" spc="-10" dirty="0">
                <a:latin typeface="Cambria"/>
                <a:cs typeface="Cambria"/>
              </a:rPr>
              <a:t>Backend</a:t>
            </a:r>
            <a:endParaRPr sz="2100" dirty="0">
              <a:latin typeface="Cambria"/>
              <a:cs typeface="Cambria"/>
            </a:endParaRPr>
          </a:p>
          <a:p>
            <a:pPr marL="12700">
              <a:lnSpc>
                <a:spcPct val="100000"/>
              </a:lnSpc>
              <a:spcBef>
                <a:spcPts val="430"/>
              </a:spcBef>
            </a:pPr>
            <a:r>
              <a:rPr sz="1800" dirty="0">
                <a:latin typeface="Cambria"/>
                <a:cs typeface="Cambria"/>
              </a:rPr>
              <a:t>[</a:t>
            </a:r>
            <a:r>
              <a:rPr lang="en-IN" dirty="0"/>
              <a:t>React.js FastAPI (Python) Firebase JWT Authentication</a:t>
            </a:r>
            <a:r>
              <a:rPr sz="1800" spc="-50" dirty="0">
                <a:latin typeface="Cambria"/>
                <a:cs typeface="Cambria"/>
              </a:rPr>
              <a:t>]</a:t>
            </a:r>
            <a:endParaRPr sz="1800" dirty="0">
              <a:latin typeface="Cambria"/>
              <a:cs typeface="Cambria"/>
            </a:endParaRPr>
          </a:p>
        </p:txBody>
      </p:sp>
      <p:sp>
        <p:nvSpPr>
          <p:cNvPr id="13" name="object 13"/>
          <p:cNvSpPr txBox="1"/>
          <p:nvPr/>
        </p:nvSpPr>
        <p:spPr>
          <a:xfrm>
            <a:off x="10845798" y="7504691"/>
            <a:ext cx="4622801" cy="1004121"/>
          </a:xfrm>
          <a:prstGeom prst="rect">
            <a:avLst/>
          </a:prstGeom>
        </p:spPr>
        <p:txBody>
          <a:bodyPr vert="horz" wrap="square" lIns="0" tIns="74930" rIns="0" bIns="0" rtlCol="0">
            <a:spAutoFit/>
          </a:bodyPr>
          <a:lstStyle/>
          <a:p>
            <a:pPr marL="12700">
              <a:lnSpc>
                <a:spcPct val="100000"/>
              </a:lnSpc>
              <a:spcBef>
                <a:spcPts val="590"/>
              </a:spcBef>
            </a:pPr>
            <a:r>
              <a:rPr sz="2100" b="1" dirty="0">
                <a:latin typeface="Cambria"/>
                <a:cs typeface="Cambria"/>
              </a:rPr>
              <a:t>Cloud &amp; </a:t>
            </a:r>
            <a:r>
              <a:rPr sz="2100" b="1" spc="-20" dirty="0">
                <a:latin typeface="Cambria"/>
                <a:cs typeface="Cambria"/>
              </a:rPr>
              <a:t>APIs</a:t>
            </a:r>
            <a:endParaRPr sz="2100" dirty="0">
              <a:latin typeface="Cambria"/>
              <a:cs typeface="Cambria"/>
            </a:endParaRPr>
          </a:p>
          <a:p>
            <a:pPr marL="34925">
              <a:lnSpc>
                <a:spcPct val="100000"/>
              </a:lnSpc>
              <a:spcBef>
                <a:spcPts val="420"/>
              </a:spcBef>
            </a:pPr>
            <a:r>
              <a:rPr lang="en-IN" dirty="0"/>
              <a:t>Google Gemini API VirusTotal API Google Safe Browsing API Vercel &amp; Render</a:t>
            </a:r>
            <a:endParaRPr sz="1800" dirty="0">
              <a:latin typeface="Cambria"/>
              <a:cs typeface="Cambria"/>
            </a:endParaRPr>
          </a:p>
        </p:txBody>
      </p:sp>
      <p:grpSp>
        <p:nvGrpSpPr>
          <p:cNvPr id="14" name="object 14"/>
          <p:cNvGrpSpPr/>
          <p:nvPr/>
        </p:nvGrpSpPr>
        <p:grpSpPr>
          <a:xfrm>
            <a:off x="1447800" y="2086740"/>
            <a:ext cx="429259" cy="546735"/>
            <a:chOff x="1855130" y="3385154"/>
            <a:chExt cx="429259" cy="546735"/>
          </a:xfrm>
        </p:grpSpPr>
        <p:sp>
          <p:nvSpPr>
            <p:cNvPr id="15" name="object 15"/>
            <p:cNvSpPr/>
            <p:nvPr/>
          </p:nvSpPr>
          <p:spPr>
            <a:xfrm>
              <a:off x="1855127" y="3385158"/>
              <a:ext cx="429259" cy="394335"/>
            </a:xfrm>
            <a:custGeom>
              <a:avLst/>
              <a:gdLst/>
              <a:ahLst/>
              <a:cxnLst/>
              <a:rect l="l" t="t" r="r" b="b"/>
              <a:pathLst>
                <a:path w="429260" h="394335">
                  <a:moveTo>
                    <a:pt x="59969" y="178803"/>
                  </a:moveTo>
                  <a:lnTo>
                    <a:pt x="54711" y="173482"/>
                  </a:lnTo>
                  <a:lnTo>
                    <a:pt x="5257" y="173482"/>
                  </a:lnTo>
                  <a:lnTo>
                    <a:pt x="0" y="178803"/>
                  </a:lnTo>
                  <a:lnTo>
                    <a:pt x="0" y="191808"/>
                  </a:lnTo>
                  <a:lnTo>
                    <a:pt x="5257" y="197129"/>
                  </a:lnTo>
                  <a:lnTo>
                    <a:pt x="48285" y="197129"/>
                  </a:lnTo>
                  <a:lnTo>
                    <a:pt x="54711" y="197129"/>
                  </a:lnTo>
                  <a:lnTo>
                    <a:pt x="59969" y="191808"/>
                  </a:lnTo>
                  <a:lnTo>
                    <a:pt x="59969" y="178803"/>
                  </a:lnTo>
                  <a:close/>
                </a:path>
                <a:path w="429260" h="394335">
                  <a:moveTo>
                    <a:pt x="106921" y="95821"/>
                  </a:moveTo>
                  <a:lnTo>
                    <a:pt x="71945" y="60413"/>
                  </a:lnTo>
                  <a:lnTo>
                    <a:pt x="64528" y="60413"/>
                  </a:lnTo>
                  <a:lnTo>
                    <a:pt x="55410" y="69634"/>
                  </a:lnTo>
                  <a:lnTo>
                    <a:pt x="55410" y="77139"/>
                  </a:lnTo>
                  <a:lnTo>
                    <a:pt x="88112" y="110236"/>
                  </a:lnTo>
                  <a:lnTo>
                    <a:pt x="91097" y="111417"/>
                  </a:lnTo>
                  <a:lnTo>
                    <a:pt x="94068" y="111417"/>
                  </a:lnTo>
                  <a:lnTo>
                    <a:pt x="97053" y="111417"/>
                  </a:lnTo>
                  <a:lnTo>
                    <a:pt x="100025" y="110236"/>
                  </a:lnTo>
                  <a:lnTo>
                    <a:pt x="106921" y="103327"/>
                  </a:lnTo>
                  <a:lnTo>
                    <a:pt x="106921" y="95821"/>
                  </a:lnTo>
                  <a:close/>
                </a:path>
                <a:path w="429260" h="394335">
                  <a:moveTo>
                    <a:pt x="224002" y="5321"/>
                  </a:moveTo>
                  <a:lnTo>
                    <a:pt x="218744" y="0"/>
                  </a:lnTo>
                  <a:lnTo>
                    <a:pt x="205905" y="0"/>
                  </a:lnTo>
                  <a:lnTo>
                    <a:pt x="200647" y="5321"/>
                  </a:lnTo>
                  <a:lnTo>
                    <a:pt x="200647" y="55384"/>
                  </a:lnTo>
                  <a:lnTo>
                    <a:pt x="205905" y="60706"/>
                  </a:lnTo>
                  <a:lnTo>
                    <a:pt x="212318" y="60706"/>
                  </a:lnTo>
                  <a:lnTo>
                    <a:pt x="218744" y="60706"/>
                  </a:lnTo>
                  <a:lnTo>
                    <a:pt x="224002" y="55384"/>
                  </a:lnTo>
                  <a:lnTo>
                    <a:pt x="224002" y="5321"/>
                  </a:lnTo>
                  <a:close/>
                </a:path>
                <a:path w="429260" h="394335">
                  <a:moveTo>
                    <a:pt x="352704" y="217944"/>
                  </a:moveTo>
                  <a:lnTo>
                    <a:pt x="342125" y="166966"/>
                  </a:lnTo>
                  <a:lnTo>
                    <a:pt x="329336" y="147231"/>
                  </a:lnTo>
                  <a:lnTo>
                    <a:pt x="329336" y="217944"/>
                  </a:lnTo>
                  <a:lnTo>
                    <a:pt x="329272" y="220243"/>
                  </a:lnTo>
                  <a:lnTo>
                    <a:pt x="328117" y="237807"/>
                  </a:lnTo>
                  <a:lnTo>
                    <a:pt x="323684" y="256527"/>
                  </a:lnTo>
                  <a:lnTo>
                    <a:pt x="316191" y="274205"/>
                  </a:lnTo>
                  <a:lnTo>
                    <a:pt x="294525" y="308076"/>
                  </a:lnTo>
                  <a:lnTo>
                    <a:pt x="286131" y="327456"/>
                  </a:lnTo>
                  <a:lnTo>
                    <a:pt x="286054" y="327761"/>
                  </a:lnTo>
                  <a:lnTo>
                    <a:pt x="280657" y="348297"/>
                  </a:lnTo>
                  <a:lnTo>
                    <a:pt x="280619" y="348729"/>
                  </a:lnTo>
                  <a:lnTo>
                    <a:pt x="278257" y="370141"/>
                  </a:lnTo>
                  <a:lnTo>
                    <a:pt x="153047" y="370141"/>
                  </a:lnTo>
                  <a:lnTo>
                    <a:pt x="150520" y="348729"/>
                  </a:lnTo>
                  <a:lnTo>
                    <a:pt x="150406" y="348297"/>
                  </a:lnTo>
                  <a:lnTo>
                    <a:pt x="144754" y="327761"/>
                  </a:lnTo>
                  <a:lnTo>
                    <a:pt x="135813" y="307479"/>
                  </a:lnTo>
                  <a:lnTo>
                    <a:pt x="123799" y="288163"/>
                  </a:lnTo>
                  <a:lnTo>
                    <a:pt x="114338" y="272656"/>
                  </a:lnTo>
                  <a:lnTo>
                    <a:pt x="107480" y="256019"/>
                  </a:lnTo>
                  <a:lnTo>
                    <a:pt x="103301" y="238467"/>
                  </a:lnTo>
                  <a:lnTo>
                    <a:pt x="103251" y="237807"/>
                  </a:lnTo>
                  <a:lnTo>
                    <a:pt x="101892" y="220243"/>
                  </a:lnTo>
                  <a:lnTo>
                    <a:pt x="111188" y="174485"/>
                  </a:lnTo>
                  <a:lnTo>
                    <a:pt x="137807" y="136309"/>
                  </a:lnTo>
                  <a:lnTo>
                    <a:pt x="177139" y="111823"/>
                  </a:lnTo>
                  <a:lnTo>
                    <a:pt x="222948" y="105333"/>
                  </a:lnTo>
                  <a:lnTo>
                    <a:pt x="264236" y="116141"/>
                  </a:lnTo>
                  <a:lnTo>
                    <a:pt x="297840" y="140817"/>
                  </a:lnTo>
                  <a:lnTo>
                    <a:pt x="320611" y="175996"/>
                  </a:lnTo>
                  <a:lnTo>
                    <a:pt x="329336" y="217944"/>
                  </a:lnTo>
                  <a:lnTo>
                    <a:pt x="329336" y="147231"/>
                  </a:lnTo>
                  <a:lnTo>
                    <a:pt x="314655" y="124574"/>
                  </a:lnTo>
                  <a:lnTo>
                    <a:pt x="288455" y="105333"/>
                  </a:lnTo>
                  <a:lnTo>
                    <a:pt x="274129" y="94818"/>
                  </a:lnTo>
                  <a:lnTo>
                    <a:pt x="224358" y="81749"/>
                  </a:lnTo>
                  <a:lnTo>
                    <a:pt x="196100" y="82842"/>
                  </a:lnTo>
                  <a:lnTo>
                    <a:pt x="144157" y="101752"/>
                  </a:lnTo>
                  <a:lnTo>
                    <a:pt x="103390" y="140576"/>
                  </a:lnTo>
                  <a:lnTo>
                    <a:pt x="81368" y="192036"/>
                  </a:lnTo>
                  <a:lnTo>
                    <a:pt x="78486" y="220243"/>
                  </a:lnTo>
                  <a:lnTo>
                    <a:pt x="80187" y="242201"/>
                  </a:lnTo>
                  <a:lnTo>
                    <a:pt x="85229" y="263347"/>
                  </a:lnTo>
                  <a:lnTo>
                    <a:pt x="93510" y="283413"/>
                  </a:lnTo>
                  <a:lnTo>
                    <a:pt x="104940" y="302107"/>
                  </a:lnTo>
                  <a:lnTo>
                    <a:pt x="115658" y="319455"/>
                  </a:lnTo>
                  <a:lnTo>
                    <a:pt x="123431" y="337642"/>
                  </a:lnTo>
                  <a:lnTo>
                    <a:pt x="128155" y="356412"/>
                  </a:lnTo>
                  <a:lnTo>
                    <a:pt x="129755" y="375526"/>
                  </a:lnTo>
                  <a:lnTo>
                    <a:pt x="129755" y="388467"/>
                  </a:lnTo>
                  <a:lnTo>
                    <a:pt x="135013" y="393788"/>
                  </a:lnTo>
                  <a:lnTo>
                    <a:pt x="296240" y="393788"/>
                  </a:lnTo>
                  <a:lnTo>
                    <a:pt x="301434" y="388467"/>
                  </a:lnTo>
                  <a:lnTo>
                    <a:pt x="301523" y="375526"/>
                  </a:lnTo>
                  <a:lnTo>
                    <a:pt x="301929" y="370141"/>
                  </a:lnTo>
                  <a:lnTo>
                    <a:pt x="314452" y="320471"/>
                  </a:lnTo>
                  <a:lnTo>
                    <a:pt x="336791" y="285330"/>
                  </a:lnTo>
                  <a:lnTo>
                    <a:pt x="345833" y="264033"/>
                  </a:lnTo>
                  <a:lnTo>
                    <a:pt x="351167" y="241465"/>
                  </a:lnTo>
                  <a:lnTo>
                    <a:pt x="352704" y="217944"/>
                  </a:lnTo>
                  <a:close/>
                </a:path>
                <a:path w="429260" h="394335">
                  <a:moveTo>
                    <a:pt x="371919" y="69634"/>
                  </a:moveTo>
                  <a:lnTo>
                    <a:pt x="362813" y="60413"/>
                  </a:lnTo>
                  <a:lnTo>
                    <a:pt x="355396" y="60413"/>
                  </a:lnTo>
                  <a:lnTo>
                    <a:pt x="320421" y="95821"/>
                  </a:lnTo>
                  <a:lnTo>
                    <a:pt x="320421" y="103327"/>
                  </a:lnTo>
                  <a:lnTo>
                    <a:pt x="327253" y="110236"/>
                  </a:lnTo>
                  <a:lnTo>
                    <a:pt x="330225" y="111417"/>
                  </a:lnTo>
                  <a:lnTo>
                    <a:pt x="333209" y="111417"/>
                  </a:lnTo>
                  <a:lnTo>
                    <a:pt x="336245" y="111417"/>
                  </a:lnTo>
                  <a:lnTo>
                    <a:pt x="339217" y="110236"/>
                  </a:lnTo>
                  <a:lnTo>
                    <a:pt x="371919" y="77139"/>
                  </a:lnTo>
                  <a:lnTo>
                    <a:pt x="371919" y="69634"/>
                  </a:lnTo>
                  <a:close/>
                </a:path>
                <a:path w="429260" h="394335">
                  <a:moveTo>
                    <a:pt x="428917" y="178803"/>
                  </a:moveTo>
                  <a:lnTo>
                    <a:pt x="423659" y="173482"/>
                  </a:lnTo>
                  <a:lnTo>
                    <a:pt x="374192" y="173482"/>
                  </a:lnTo>
                  <a:lnTo>
                    <a:pt x="368947" y="178803"/>
                  </a:lnTo>
                  <a:lnTo>
                    <a:pt x="368947" y="191808"/>
                  </a:lnTo>
                  <a:lnTo>
                    <a:pt x="374192" y="197129"/>
                  </a:lnTo>
                  <a:lnTo>
                    <a:pt x="417233" y="197129"/>
                  </a:lnTo>
                  <a:lnTo>
                    <a:pt x="423659" y="197129"/>
                  </a:lnTo>
                  <a:lnTo>
                    <a:pt x="428917" y="191808"/>
                  </a:lnTo>
                  <a:lnTo>
                    <a:pt x="428917" y="178803"/>
                  </a:lnTo>
                  <a:close/>
                </a:path>
              </a:pathLst>
            </a:custGeom>
            <a:solidFill>
              <a:srgbClr val="000000"/>
            </a:solidFill>
          </p:spPr>
          <p:txBody>
            <a:bodyPr wrap="square" lIns="0" tIns="0" rIns="0" bIns="0" rtlCol="0"/>
            <a:lstStyle/>
            <a:p>
              <a:endParaRPr/>
            </a:p>
          </p:txBody>
        </p:sp>
        <p:pic>
          <p:nvPicPr>
            <p:cNvPr id="16" name="object 16"/>
            <p:cNvPicPr/>
            <p:nvPr/>
          </p:nvPicPr>
          <p:blipFill>
            <a:blip r:embed="rId3" cstate="print"/>
            <a:stretch>
              <a:fillRect/>
            </a:stretch>
          </p:blipFill>
          <p:spPr>
            <a:xfrm>
              <a:off x="1983543" y="3800872"/>
              <a:ext cx="174369" cy="130987"/>
            </a:xfrm>
            <a:prstGeom prst="rect">
              <a:avLst/>
            </a:prstGeom>
          </p:spPr>
        </p:pic>
        <p:pic>
          <p:nvPicPr>
            <p:cNvPr id="17" name="object 17"/>
            <p:cNvPicPr/>
            <p:nvPr/>
          </p:nvPicPr>
          <p:blipFill>
            <a:blip r:embed="rId4" cstate="print"/>
            <a:stretch>
              <a:fillRect/>
            </a:stretch>
          </p:blipFill>
          <p:spPr>
            <a:xfrm>
              <a:off x="2002872" y="3593515"/>
              <a:ext cx="135828" cy="185427"/>
            </a:xfrm>
            <a:prstGeom prst="rect">
              <a:avLst/>
            </a:prstGeom>
          </p:spPr>
        </p:pic>
      </p:grpSp>
      <p:sp>
        <p:nvSpPr>
          <p:cNvPr id="18" name="object 18"/>
          <p:cNvSpPr/>
          <p:nvPr/>
        </p:nvSpPr>
        <p:spPr>
          <a:xfrm>
            <a:off x="10025570" y="3433342"/>
            <a:ext cx="431165" cy="500380"/>
          </a:xfrm>
          <a:custGeom>
            <a:avLst/>
            <a:gdLst/>
            <a:ahLst/>
            <a:cxnLst/>
            <a:rect l="l" t="t" r="r" b="b"/>
            <a:pathLst>
              <a:path w="431165" h="500379">
                <a:moveTo>
                  <a:pt x="431101" y="384721"/>
                </a:moveTo>
                <a:lnTo>
                  <a:pt x="428828" y="375399"/>
                </a:lnTo>
                <a:lnTo>
                  <a:pt x="423125" y="367690"/>
                </a:lnTo>
                <a:lnTo>
                  <a:pt x="415201" y="362940"/>
                </a:lnTo>
                <a:lnTo>
                  <a:pt x="406082" y="361518"/>
                </a:lnTo>
                <a:lnTo>
                  <a:pt x="396798" y="363804"/>
                </a:lnTo>
                <a:lnTo>
                  <a:pt x="215557" y="449160"/>
                </a:lnTo>
                <a:lnTo>
                  <a:pt x="34315" y="363804"/>
                </a:lnTo>
                <a:lnTo>
                  <a:pt x="25019" y="361518"/>
                </a:lnTo>
                <a:lnTo>
                  <a:pt x="15900" y="362940"/>
                </a:lnTo>
                <a:lnTo>
                  <a:pt x="7975" y="367690"/>
                </a:lnTo>
                <a:lnTo>
                  <a:pt x="2286" y="375399"/>
                </a:lnTo>
                <a:lnTo>
                  <a:pt x="12" y="384721"/>
                </a:lnTo>
                <a:lnTo>
                  <a:pt x="1435" y="393865"/>
                </a:lnTo>
                <a:lnTo>
                  <a:pt x="6159" y="401815"/>
                </a:lnTo>
                <a:lnTo>
                  <a:pt x="13843" y="407530"/>
                </a:lnTo>
                <a:lnTo>
                  <a:pt x="208572" y="499237"/>
                </a:lnTo>
                <a:lnTo>
                  <a:pt x="212064" y="499999"/>
                </a:lnTo>
                <a:lnTo>
                  <a:pt x="219049" y="499999"/>
                </a:lnTo>
                <a:lnTo>
                  <a:pt x="222554" y="499237"/>
                </a:lnTo>
                <a:lnTo>
                  <a:pt x="417271" y="407530"/>
                </a:lnTo>
                <a:lnTo>
                  <a:pt x="424954" y="401815"/>
                </a:lnTo>
                <a:lnTo>
                  <a:pt x="429679" y="393865"/>
                </a:lnTo>
                <a:lnTo>
                  <a:pt x="431101" y="384721"/>
                </a:lnTo>
                <a:close/>
              </a:path>
              <a:path w="431165" h="500379">
                <a:moveTo>
                  <a:pt x="431101" y="294513"/>
                </a:moveTo>
                <a:lnTo>
                  <a:pt x="428828" y="285203"/>
                </a:lnTo>
                <a:lnTo>
                  <a:pt x="423125" y="277495"/>
                </a:lnTo>
                <a:lnTo>
                  <a:pt x="415201" y="272757"/>
                </a:lnTo>
                <a:lnTo>
                  <a:pt x="406082" y="271335"/>
                </a:lnTo>
                <a:lnTo>
                  <a:pt x="396798" y="273608"/>
                </a:lnTo>
                <a:lnTo>
                  <a:pt x="215557" y="358978"/>
                </a:lnTo>
                <a:lnTo>
                  <a:pt x="34315" y="273608"/>
                </a:lnTo>
                <a:lnTo>
                  <a:pt x="25019" y="271335"/>
                </a:lnTo>
                <a:lnTo>
                  <a:pt x="15900" y="272745"/>
                </a:lnTo>
                <a:lnTo>
                  <a:pt x="7975" y="277495"/>
                </a:lnTo>
                <a:lnTo>
                  <a:pt x="2286" y="285203"/>
                </a:lnTo>
                <a:lnTo>
                  <a:pt x="12" y="294513"/>
                </a:lnTo>
                <a:lnTo>
                  <a:pt x="1435" y="303669"/>
                </a:lnTo>
                <a:lnTo>
                  <a:pt x="6159" y="311619"/>
                </a:lnTo>
                <a:lnTo>
                  <a:pt x="13843" y="317334"/>
                </a:lnTo>
                <a:lnTo>
                  <a:pt x="208572" y="409054"/>
                </a:lnTo>
                <a:lnTo>
                  <a:pt x="212064" y="409829"/>
                </a:lnTo>
                <a:lnTo>
                  <a:pt x="219049" y="409829"/>
                </a:lnTo>
                <a:lnTo>
                  <a:pt x="222554" y="409054"/>
                </a:lnTo>
                <a:lnTo>
                  <a:pt x="417271" y="317334"/>
                </a:lnTo>
                <a:lnTo>
                  <a:pt x="424954" y="311619"/>
                </a:lnTo>
                <a:lnTo>
                  <a:pt x="429679" y="303669"/>
                </a:lnTo>
                <a:lnTo>
                  <a:pt x="431101" y="294513"/>
                </a:lnTo>
                <a:close/>
              </a:path>
              <a:path w="431165" h="500379">
                <a:moveTo>
                  <a:pt x="431101" y="204343"/>
                </a:moveTo>
                <a:lnTo>
                  <a:pt x="428828" y="195021"/>
                </a:lnTo>
                <a:lnTo>
                  <a:pt x="423125" y="187312"/>
                </a:lnTo>
                <a:lnTo>
                  <a:pt x="415201" y="182575"/>
                </a:lnTo>
                <a:lnTo>
                  <a:pt x="406082" y="181152"/>
                </a:lnTo>
                <a:lnTo>
                  <a:pt x="396798" y="183426"/>
                </a:lnTo>
                <a:lnTo>
                  <a:pt x="215557" y="268782"/>
                </a:lnTo>
                <a:lnTo>
                  <a:pt x="34315" y="183426"/>
                </a:lnTo>
                <a:lnTo>
                  <a:pt x="25019" y="181152"/>
                </a:lnTo>
                <a:lnTo>
                  <a:pt x="15900" y="182562"/>
                </a:lnTo>
                <a:lnTo>
                  <a:pt x="7975" y="187312"/>
                </a:lnTo>
                <a:lnTo>
                  <a:pt x="2286" y="195021"/>
                </a:lnTo>
                <a:lnTo>
                  <a:pt x="12" y="204343"/>
                </a:lnTo>
                <a:lnTo>
                  <a:pt x="1435" y="213487"/>
                </a:lnTo>
                <a:lnTo>
                  <a:pt x="6159" y="221437"/>
                </a:lnTo>
                <a:lnTo>
                  <a:pt x="13843" y="227152"/>
                </a:lnTo>
                <a:lnTo>
                  <a:pt x="208572" y="318858"/>
                </a:lnTo>
                <a:lnTo>
                  <a:pt x="212064" y="319620"/>
                </a:lnTo>
                <a:lnTo>
                  <a:pt x="219049" y="319620"/>
                </a:lnTo>
                <a:lnTo>
                  <a:pt x="222554" y="318858"/>
                </a:lnTo>
                <a:lnTo>
                  <a:pt x="417271" y="227152"/>
                </a:lnTo>
                <a:lnTo>
                  <a:pt x="424954" y="221437"/>
                </a:lnTo>
                <a:lnTo>
                  <a:pt x="429679" y="213487"/>
                </a:lnTo>
                <a:lnTo>
                  <a:pt x="431101" y="204343"/>
                </a:lnTo>
                <a:close/>
              </a:path>
              <a:path w="431165" h="500379">
                <a:moveTo>
                  <a:pt x="431114" y="115087"/>
                </a:moveTo>
                <a:lnTo>
                  <a:pt x="350380" y="61734"/>
                </a:lnTo>
                <a:lnTo>
                  <a:pt x="350380" y="115087"/>
                </a:lnTo>
                <a:lnTo>
                  <a:pt x="215557" y="178600"/>
                </a:lnTo>
                <a:lnTo>
                  <a:pt x="80733" y="115087"/>
                </a:lnTo>
                <a:lnTo>
                  <a:pt x="215557" y="51600"/>
                </a:lnTo>
                <a:lnTo>
                  <a:pt x="350380" y="115087"/>
                </a:lnTo>
                <a:lnTo>
                  <a:pt x="350380" y="61734"/>
                </a:lnTo>
                <a:lnTo>
                  <a:pt x="328879" y="51600"/>
                </a:lnTo>
                <a:lnTo>
                  <a:pt x="219303" y="0"/>
                </a:lnTo>
                <a:lnTo>
                  <a:pt x="211810" y="0"/>
                </a:lnTo>
                <a:lnTo>
                  <a:pt x="13843" y="93230"/>
                </a:lnTo>
                <a:lnTo>
                  <a:pt x="0" y="115087"/>
                </a:lnTo>
                <a:lnTo>
                  <a:pt x="977" y="121894"/>
                </a:lnTo>
                <a:lnTo>
                  <a:pt x="208572" y="228676"/>
                </a:lnTo>
                <a:lnTo>
                  <a:pt x="212064" y="229450"/>
                </a:lnTo>
                <a:lnTo>
                  <a:pt x="219049" y="229450"/>
                </a:lnTo>
                <a:lnTo>
                  <a:pt x="222554" y="228676"/>
                </a:lnTo>
                <a:lnTo>
                  <a:pt x="328853" y="178600"/>
                </a:lnTo>
                <a:lnTo>
                  <a:pt x="417271" y="136956"/>
                </a:lnTo>
                <a:lnTo>
                  <a:pt x="422998" y="133172"/>
                </a:lnTo>
                <a:lnTo>
                  <a:pt x="427367" y="128041"/>
                </a:lnTo>
                <a:lnTo>
                  <a:pt x="430136" y="121894"/>
                </a:lnTo>
                <a:lnTo>
                  <a:pt x="431114" y="115087"/>
                </a:lnTo>
                <a:close/>
              </a:path>
            </a:pathLst>
          </a:custGeom>
          <a:solidFill>
            <a:srgbClr val="000000"/>
          </a:solidFill>
        </p:spPr>
        <p:txBody>
          <a:bodyPr wrap="square" lIns="0" tIns="0" rIns="0" bIns="0" rtlCol="0"/>
          <a:lstStyle/>
          <a:p>
            <a:endParaRPr/>
          </a:p>
        </p:txBody>
      </p:sp>
      <p:pic>
        <p:nvPicPr>
          <p:cNvPr id="19" name="object 19"/>
          <p:cNvPicPr/>
          <p:nvPr/>
        </p:nvPicPr>
        <p:blipFill>
          <a:blip r:embed="rId5" cstate="print"/>
          <a:stretch>
            <a:fillRect/>
          </a:stretch>
        </p:blipFill>
        <p:spPr>
          <a:xfrm>
            <a:off x="10026370" y="7762386"/>
            <a:ext cx="554285" cy="467359"/>
          </a:xfrm>
          <a:prstGeom prst="rect">
            <a:avLst/>
          </a:prstGeom>
        </p:spPr>
      </p:pic>
      <p:grpSp>
        <p:nvGrpSpPr>
          <p:cNvPr id="20" name="object 20"/>
          <p:cNvGrpSpPr/>
          <p:nvPr/>
        </p:nvGrpSpPr>
        <p:grpSpPr>
          <a:xfrm>
            <a:off x="9980040" y="5549610"/>
            <a:ext cx="523875" cy="513715"/>
            <a:chOff x="9980040" y="5549610"/>
            <a:chExt cx="523875" cy="513715"/>
          </a:xfrm>
        </p:grpSpPr>
        <p:sp>
          <p:nvSpPr>
            <p:cNvPr id="21" name="object 21"/>
            <p:cNvSpPr/>
            <p:nvPr/>
          </p:nvSpPr>
          <p:spPr>
            <a:xfrm>
              <a:off x="9980040" y="5789271"/>
              <a:ext cx="523875" cy="274320"/>
            </a:xfrm>
            <a:custGeom>
              <a:avLst/>
              <a:gdLst/>
              <a:ahLst/>
              <a:cxnLst/>
              <a:rect l="l" t="t" r="r" b="b"/>
              <a:pathLst>
                <a:path w="523875" h="274320">
                  <a:moveTo>
                    <a:pt x="117641" y="233339"/>
                  </a:moveTo>
                  <a:lnTo>
                    <a:pt x="112253" y="232930"/>
                  </a:lnTo>
                  <a:lnTo>
                    <a:pt x="48751" y="169545"/>
                  </a:lnTo>
                  <a:lnTo>
                    <a:pt x="40951" y="161636"/>
                  </a:lnTo>
                  <a:lnTo>
                    <a:pt x="40693" y="157694"/>
                  </a:lnTo>
                  <a:lnTo>
                    <a:pt x="40608" y="156387"/>
                  </a:lnTo>
                  <a:lnTo>
                    <a:pt x="59404" y="131075"/>
                  </a:lnTo>
                  <a:lnTo>
                    <a:pt x="66192" y="122043"/>
                  </a:lnTo>
                  <a:lnTo>
                    <a:pt x="75315" y="110137"/>
                  </a:lnTo>
                  <a:lnTo>
                    <a:pt x="75388" y="109460"/>
                  </a:lnTo>
                  <a:lnTo>
                    <a:pt x="75489" y="107606"/>
                  </a:lnTo>
                  <a:lnTo>
                    <a:pt x="73737" y="104386"/>
                  </a:lnTo>
                  <a:lnTo>
                    <a:pt x="70777" y="98557"/>
                  </a:lnTo>
                  <a:lnTo>
                    <a:pt x="62554" y="76624"/>
                  </a:lnTo>
                  <a:lnTo>
                    <a:pt x="60801" y="75143"/>
                  </a:lnTo>
                  <a:lnTo>
                    <a:pt x="57026" y="74653"/>
                  </a:lnTo>
                  <a:lnTo>
                    <a:pt x="3750" y="67106"/>
                  </a:lnTo>
                  <a:lnTo>
                    <a:pt x="4043" y="67106"/>
                  </a:lnTo>
                  <a:lnTo>
                    <a:pt x="0" y="63070"/>
                  </a:lnTo>
                  <a:lnTo>
                    <a:pt x="11" y="4537"/>
                  </a:lnTo>
                  <a:lnTo>
                    <a:pt x="4804" y="0"/>
                  </a:lnTo>
                  <a:lnTo>
                    <a:pt x="173253" y="0"/>
                  </a:lnTo>
                  <a:lnTo>
                    <a:pt x="177367" y="4024"/>
                  </a:lnTo>
                  <a:lnTo>
                    <a:pt x="177834" y="14977"/>
                  </a:lnTo>
                  <a:lnTo>
                    <a:pt x="180142" y="24974"/>
                  </a:lnTo>
                  <a:lnTo>
                    <a:pt x="24574" y="24974"/>
                  </a:lnTo>
                  <a:lnTo>
                    <a:pt x="24692" y="40639"/>
                  </a:lnTo>
                  <a:lnTo>
                    <a:pt x="24715" y="44092"/>
                  </a:lnTo>
                  <a:lnTo>
                    <a:pt x="25599" y="45118"/>
                  </a:lnTo>
                  <a:lnTo>
                    <a:pt x="25720" y="45258"/>
                  </a:lnTo>
                  <a:lnTo>
                    <a:pt x="61040" y="50441"/>
                  </a:lnTo>
                  <a:lnTo>
                    <a:pt x="78703" y="52782"/>
                  </a:lnTo>
                  <a:lnTo>
                    <a:pt x="82466" y="56503"/>
                  </a:lnTo>
                  <a:lnTo>
                    <a:pt x="95397" y="92509"/>
                  </a:lnTo>
                  <a:lnTo>
                    <a:pt x="104190" y="108399"/>
                  </a:lnTo>
                  <a:lnTo>
                    <a:pt x="103589" y="113380"/>
                  </a:lnTo>
                  <a:lnTo>
                    <a:pt x="103524" y="113916"/>
                  </a:lnTo>
                  <a:lnTo>
                    <a:pt x="99072" y="119667"/>
                  </a:lnTo>
                  <a:lnTo>
                    <a:pt x="92712" y="128001"/>
                  </a:lnTo>
                  <a:lnTo>
                    <a:pt x="80154" y="144792"/>
                  </a:lnTo>
                  <a:lnTo>
                    <a:pt x="73860" y="153063"/>
                  </a:lnTo>
                  <a:lnTo>
                    <a:pt x="71587" y="156014"/>
                  </a:lnTo>
                  <a:lnTo>
                    <a:pt x="71657" y="157694"/>
                  </a:lnTo>
                  <a:lnTo>
                    <a:pt x="84163" y="169930"/>
                  </a:lnTo>
                  <a:lnTo>
                    <a:pt x="94042" y="179716"/>
                  </a:lnTo>
                  <a:lnTo>
                    <a:pt x="103811" y="189530"/>
                  </a:lnTo>
                  <a:lnTo>
                    <a:pt x="116522" y="202556"/>
                  </a:lnTo>
                  <a:lnTo>
                    <a:pt x="159016" y="202556"/>
                  </a:lnTo>
                  <a:lnTo>
                    <a:pt x="143266" y="214411"/>
                  </a:lnTo>
                  <a:lnTo>
                    <a:pt x="117641" y="233339"/>
                  </a:lnTo>
                  <a:close/>
                </a:path>
                <a:path w="523875" h="274320">
                  <a:moveTo>
                    <a:pt x="329631" y="96303"/>
                  </a:moveTo>
                  <a:lnTo>
                    <a:pt x="258887" y="96303"/>
                  </a:lnTo>
                  <a:lnTo>
                    <a:pt x="289629" y="91617"/>
                  </a:lnTo>
                  <a:lnTo>
                    <a:pt x="316066" y="76258"/>
                  </a:lnTo>
                  <a:lnTo>
                    <a:pt x="335403" y="52609"/>
                  </a:lnTo>
                  <a:lnTo>
                    <a:pt x="344848" y="23049"/>
                  </a:lnTo>
                  <a:lnTo>
                    <a:pt x="345198" y="19969"/>
                  </a:lnTo>
                  <a:lnTo>
                    <a:pt x="345642" y="16890"/>
                  </a:lnTo>
                  <a:lnTo>
                    <a:pt x="346203" y="4537"/>
                  </a:lnTo>
                  <a:lnTo>
                    <a:pt x="350737" y="0"/>
                  </a:lnTo>
                  <a:lnTo>
                    <a:pt x="519317" y="0"/>
                  </a:lnTo>
                  <a:lnTo>
                    <a:pt x="523547" y="4175"/>
                  </a:lnTo>
                  <a:lnTo>
                    <a:pt x="523531" y="24974"/>
                  </a:lnTo>
                  <a:lnTo>
                    <a:pt x="371027" y="24974"/>
                  </a:lnTo>
                  <a:lnTo>
                    <a:pt x="369830" y="25697"/>
                  </a:lnTo>
                  <a:lnTo>
                    <a:pt x="369622" y="25697"/>
                  </a:lnTo>
                  <a:lnTo>
                    <a:pt x="369088" y="28893"/>
                  </a:lnTo>
                  <a:lnTo>
                    <a:pt x="369049" y="29126"/>
                  </a:lnTo>
                  <a:lnTo>
                    <a:pt x="354144" y="69599"/>
                  </a:lnTo>
                  <a:lnTo>
                    <a:pt x="329631" y="96303"/>
                  </a:lnTo>
                  <a:close/>
                </a:path>
                <a:path w="523875" h="274320">
                  <a:moveTo>
                    <a:pt x="246409" y="119667"/>
                  </a:moveTo>
                  <a:lnTo>
                    <a:pt x="245663" y="119667"/>
                  </a:lnTo>
                  <a:lnTo>
                    <a:pt x="212790" y="109460"/>
                  </a:lnTo>
                  <a:lnTo>
                    <a:pt x="213014" y="109460"/>
                  </a:lnTo>
                  <a:lnTo>
                    <a:pt x="185526" y="89749"/>
                  </a:lnTo>
                  <a:lnTo>
                    <a:pt x="165207" y="62515"/>
                  </a:lnTo>
                  <a:lnTo>
                    <a:pt x="154638" y="30199"/>
                  </a:lnTo>
                  <a:lnTo>
                    <a:pt x="153995" y="25697"/>
                  </a:lnTo>
                  <a:lnTo>
                    <a:pt x="152277" y="24974"/>
                  </a:lnTo>
                  <a:lnTo>
                    <a:pt x="180142" y="24974"/>
                  </a:lnTo>
                  <a:lnTo>
                    <a:pt x="184793" y="45118"/>
                  </a:lnTo>
                  <a:lnTo>
                    <a:pt x="184825" y="45258"/>
                  </a:lnTo>
                  <a:lnTo>
                    <a:pt x="227727" y="89004"/>
                  </a:lnTo>
                  <a:lnTo>
                    <a:pt x="258887" y="96303"/>
                  </a:lnTo>
                  <a:lnTo>
                    <a:pt x="329631" y="96303"/>
                  </a:lnTo>
                  <a:lnTo>
                    <a:pt x="326427" y="99793"/>
                  </a:lnTo>
                  <a:lnTo>
                    <a:pt x="289202" y="117298"/>
                  </a:lnTo>
                  <a:lnTo>
                    <a:pt x="246409" y="119667"/>
                  </a:lnTo>
                  <a:close/>
                </a:path>
                <a:path w="523875" h="274320">
                  <a:moveTo>
                    <a:pt x="441846" y="202556"/>
                  </a:moveTo>
                  <a:lnTo>
                    <a:pt x="407028" y="202556"/>
                  </a:lnTo>
                  <a:lnTo>
                    <a:pt x="419556" y="189790"/>
                  </a:lnTo>
                  <a:lnTo>
                    <a:pt x="429425" y="179875"/>
                  </a:lnTo>
                  <a:lnTo>
                    <a:pt x="439454" y="169930"/>
                  </a:lnTo>
                  <a:lnTo>
                    <a:pt x="452123" y="157542"/>
                  </a:lnTo>
                  <a:lnTo>
                    <a:pt x="451950" y="156387"/>
                  </a:lnTo>
                  <a:lnTo>
                    <a:pt x="451866" y="155827"/>
                  </a:lnTo>
                  <a:lnTo>
                    <a:pt x="449740" y="153063"/>
                  </a:lnTo>
                  <a:lnTo>
                    <a:pt x="443311" y="144601"/>
                  </a:lnTo>
                  <a:lnTo>
                    <a:pt x="430562" y="127595"/>
                  </a:lnTo>
                  <a:lnTo>
                    <a:pt x="420583" y="114394"/>
                  </a:lnTo>
                  <a:lnTo>
                    <a:pt x="419041" y="109460"/>
                  </a:lnTo>
                  <a:lnTo>
                    <a:pt x="436457" y="72310"/>
                  </a:lnTo>
                  <a:lnTo>
                    <a:pt x="441548" y="55850"/>
                  </a:lnTo>
                  <a:lnTo>
                    <a:pt x="445241" y="52782"/>
                  </a:lnTo>
                  <a:lnTo>
                    <a:pt x="445592" y="52782"/>
                  </a:lnTo>
                  <a:lnTo>
                    <a:pt x="499743" y="45118"/>
                  </a:lnTo>
                  <a:lnTo>
                    <a:pt x="498948" y="30199"/>
                  </a:lnTo>
                  <a:lnTo>
                    <a:pt x="498878" y="28893"/>
                  </a:lnTo>
                  <a:lnTo>
                    <a:pt x="498656" y="25697"/>
                  </a:lnTo>
                  <a:lnTo>
                    <a:pt x="497557" y="24974"/>
                  </a:lnTo>
                  <a:lnTo>
                    <a:pt x="523531" y="24974"/>
                  </a:lnTo>
                  <a:lnTo>
                    <a:pt x="523501" y="63070"/>
                  </a:lnTo>
                  <a:lnTo>
                    <a:pt x="519679" y="67106"/>
                  </a:lnTo>
                  <a:lnTo>
                    <a:pt x="466430" y="74653"/>
                  </a:lnTo>
                  <a:lnTo>
                    <a:pt x="462657" y="75143"/>
                  </a:lnTo>
                  <a:lnTo>
                    <a:pt x="462498" y="75143"/>
                  </a:lnTo>
                  <a:lnTo>
                    <a:pt x="460935" y="76928"/>
                  </a:lnTo>
                  <a:lnTo>
                    <a:pt x="448033" y="107606"/>
                  </a:lnTo>
                  <a:lnTo>
                    <a:pt x="448117" y="108399"/>
                  </a:lnTo>
                  <a:lnTo>
                    <a:pt x="448230" y="109460"/>
                  </a:lnTo>
                  <a:lnTo>
                    <a:pt x="448301" y="110137"/>
                  </a:lnTo>
                  <a:lnTo>
                    <a:pt x="457448" y="122043"/>
                  </a:lnTo>
                  <a:lnTo>
                    <a:pt x="464012" y="130766"/>
                  </a:lnTo>
                  <a:lnTo>
                    <a:pt x="483063" y="156387"/>
                  </a:lnTo>
                  <a:lnTo>
                    <a:pt x="483071" y="157694"/>
                  </a:lnTo>
                  <a:lnTo>
                    <a:pt x="482811" y="161636"/>
                  </a:lnTo>
                  <a:lnTo>
                    <a:pt x="441846" y="202556"/>
                  </a:lnTo>
                  <a:close/>
                </a:path>
                <a:path w="523875" h="274320">
                  <a:moveTo>
                    <a:pt x="159016" y="202556"/>
                  </a:moveTo>
                  <a:lnTo>
                    <a:pt x="117012" y="202556"/>
                  </a:lnTo>
                  <a:lnTo>
                    <a:pt x="118517" y="202089"/>
                  </a:lnTo>
                  <a:lnTo>
                    <a:pt x="121590" y="199721"/>
                  </a:lnTo>
                  <a:lnTo>
                    <a:pt x="129942" y="193375"/>
                  </a:lnTo>
                  <a:lnTo>
                    <a:pt x="159885" y="170956"/>
                  </a:lnTo>
                  <a:lnTo>
                    <a:pt x="164828" y="169545"/>
                  </a:lnTo>
                  <a:lnTo>
                    <a:pt x="170262" y="172636"/>
                  </a:lnTo>
                  <a:lnTo>
                    <a:pt x="180578" y="178060"/>
                  </a:lnTo>
                  <a:lnTo>
                    <a:pt x="191168" y="182813"/>
                  </a:lnTo>
                  <a:lnTo>
                    <a:pt x="202020" y="186936"/>
                  </a:lnTo>
                  <a:lnTo>
                    <a:pt x="213125" y="190471"/>
                  </a:lnTo>
                  <a:lnTo>
                    <a:pt x="218547" y="192034"/>
                  </a:lnTo>
                  <a:lnTo>
                    <a:pt x="221399" y="195744"/>
                  </a:lnTo>
                  <a:lnTo>
                    <a:pt x="221771" y="198368"/>
                  </a:lnTo>
                  <a:lnTo>
                    <a:pt x="166195" y="198368"/>
                  </a:lnTo>
                  <a:lnTo>
                    <a:pt x="164080" y="198718"/>
                  </a:lnTo>
                  <a:lnTo>
                    <a:pt x="159016" y="202556"/>
                  </a:lnTo>
                  <a:close/>
                </a:path>
                <a:path w="523875" h="274320">
                  <a:moveTo>
                    <a:pt x="319516" y="249214"/>
                  </a:moveTo>
                  <a:lnTo>
                    <a:pt x="293161" y="249214"/>
                  </a:lnTo>
                  <a:lnTo>
                    <a:pt x="294540" y="248468"/>
                  </a:lnTo>
                  <a:lnTo>
                    <a:pt x="295008" y="244922"/>
                  </a:lnTo>
                  <a:lnTo>
                    <a:pt x="296518" y="234279"/>
                  </a:lnTo>
                  <a:lnTo>
                    <a:pt x="299747" y="212902"/>
                  </a:lnTo>
                  <a:lnTo>
                    <a:pt x="301086" y="203212"/>
                  </a:lnTo>
                  <a:lnTo>
                    <a:pt x="302049" y="195744"/>
                  </a:lnTo>
                  <a:lnTo>
                    <a:pt x="302089" y="195429"/>
                  </a:lnTo>
                  <a:lnTo>
                    <a:pt x="305724" y="191568"/>
                  </a:lnTo>
                  <a:lnTo>
                    <a:pt x="341958" y="178637"/>
                  </a:lnTo>
                  <a:lnTo>
                    <a:pt x="357749" y="169930"/>
                  </a:lnTo>
                  <a:lnTo>
                    <a:pt x="363241" y="170455"/>
                  </a:lnTo>
                  <a:lnTo>
                    <a:pt x="369026" y="174922"/>
                  </a:lnTo>
                  <a:lnTo>
                    <a:pt x="377372" y="181269"/>
                  </a:lnTo>
                  <a:lnTo>
                    <a:pt x="400414" y="198496"/>
                  </a:lnTo>
                  <a:lnTo>
                    <a:pt x="357340" y="198496"/>
                  </a:lnTo>
                  <a:lnTo>
                    <a:pt x="325882" y="211456"/>
                  </a:lnTo>
                  <a:lnTo>
                    <a:pt x="324806" y="212902"/>
                  </a:lnTo>
                  <a:lnTo>
                    <a:pt x="324567" y="214268"/>
                  </a:lnTo>
                  <a:lnTo>
                    <a:pt x="322797" y="227005"/>
                  </a:lnTo>
                  <a:lnTo>
                    <a:pt x="319702" y="247954"/>
                  </a:lnTo>
                  <a:lnTo>
                    <a:pt x="319627" y="248468"/>
                  </a:lnTo>
                  <a:lnTo>
                    <a:pt x="319516" y="249214"/>
                  </a:lnTo>
                  <a:close/>
                </a:path>
                <a:path w="523875" h="274320">
                  <a:moveTo>
                    <a:pt x="312408" y="273920"/>
                  </a:moveTo>
                  <a:lnTo>
                    <a:pt x="211150" y="273920"/>
                  </a:lnTo>
                  <a:lnTo>
                    <a:pt x="207062" y="269674"/>
                  </a:lnTo>
                  <a:lnTo>
                    <a:pt x="205860" y="260984"/>
                  </a:lnTo>
                  <a:lnTo>
                    <a:pt x="204253" y="249773"/>
                  </a:lnTo>
                  <a:lnTo>
                    <a:pt x="200926" y="227362"/>
                  </a:lnTo>
                  <a:lnTo>
                    <a:pt x="198880" y="212902"/>
                  </a:lnTo>
                  <a:lnTo>
                    <a:pt x="197782" y="211456"/>
                  </a:lnTo>
                  <a:lnTo>
                    <a:pt x="166195" y="198368"/>
                  </a:lnTo>
                  <a:lnTo>
                    <a:pt x="221771" y="198368"/>
                  </a:lnTo>
                  <a:lnTo>
                    <a:pt x="224095" y="214268"/>
                  </a:lnTo>
                  <a:lnTo>
                    <a:pt x="226883" y="232930"/>
                  </a:lnTo>
                  <a:lnTo>
                    <a:pt x="228995" y="247954"/>
                  </a:lnTo>
                  <a:lnTo>
                    <a:pt x="230052" y="249214"/>
                  </a:lnTo>
                  <a:lnTo>
                    <a:pt x="319516" y="249214"/>
                  </a:lnTo>
                  <a:lnTo>
                    <a:pt x="317871" y="260622"/>
                  </a:lnTo>
                  <a:lnTo>
                    <a:pt x="316603" y="269674"/>
                  </a:lnTo>
                  <a:lnTo>
                    <a:pt x="312408" y="273920"/>
                  </a:lnTo>
                  <a:close/>
                </a:path>
                <a:path w="523875" h="274320">
                  <a:moveTo>
                    <a:pt x="406093" y="233502"/>
                  </a:moveTo>
                  <a:lnTo>
                    <a:pt x="371265" y="207601"/>
                  </a:lnTo>
                  <a:lnTo>
                    <a:pt x="359584" y="198718"/>
                  </a:lnTo>
                  <a:lnTo>
                    <a:pt x="359318" y="198718"/>
                  </a:lnTo>
                  <a:lnTo>
                    <a:pt x="357340" y="198496"/>
                  </a:lnTo>
                  <a:lnTo>
                    <a:pt x="400414" y="198496"/>
                  </a:lnTo>
                  <a:lnTo>
                    <a:pt x="405310" y="202217"/>
                  </a:lnTo>
                  <a:lnTo>
                    <a:pt x="407028" y="202556"/>
                  </a:lnTo>
                  <a:lnTo>
                    <a:pt x="441846" y="202556"/>
                  </a:lnTo>
                  <a:lnTo>
                    <a:pt x="411212" y="233117"/>
                  </a:lnTo>
                  <a:lnTo>
                    <a:pt x="406093" y="233502"/>
                  </a:lnTo>
                  <a:close/>
                </a:path>
              </a:pathLst>
            </a:custGeom>
            <a:solidFill>
              <a:srgbClr val="000000"/>
            </a:solidFill>
          </p:spPr>
          <p:txBody>
            <a:bodyPr wrap="square" lIns="0" tIns="0" rIns="0" bIns="0" rtlCol="0"/>
            <a:lstStyle/>
            <a:p>
              <a:endParaRPr/>
            </a:p>
          </p:txBody>
        </p:sp>
        <p:pic>
          <p:nvPicPr>
            <p:cNvPr id="22" name="object 22"/>
            <p:cNvPicPr/>
            <p:nvPr/>
          </p:nvPicPr>
          <p:blipFill>
            <a:blip r:embed="rId6" cstate="print"/>
            <a:stretch>
              <a:fillRect/>
            </a:stretch>
          </p:blipFill>
          <p:spPr>
            <a:xfrm>
              <a:off x="9989814" y="5549610"/>
              <a:ext cx="503900" cy="221709"/>
            </a:xfrm>
            <a:prstGeom prst="rect">
              <a:avLst/>
            </a:prstGeom>
          </p:spPr>
        </p:pic>
      </p:grpSp>
      <p:pic>
        <p:nvPicPr>
          <p:cNvPr id="23" name="object 23"/>
          <p:cNvPicPr/>
          <p:nvPr/>
        </p:nvPicPr>
        <p:blipFill>
          <a:blip r:embed="rId7" cstate="print"/>
          <a:stretch>
            <a:fillRect/>
          </a:stretch>
        </p:blipFill>
        <p:spPr>
          <a:xfrm>
            <a:off x="9979795" y="4264312"/>
            <a:ext cx="542924" cy="542924"/>
          </a:xfrm>
          <a:prstGeom prst="rect">
            <a:avLst/>
          </a:prstGeom>
        </p:spPr>
      </p:pic>
      <p:sp>
        <p:nvSpPr>
          <p:cNvPr id="24" name="object 24"/>
          <p:cNvSpPr txBox="1"/>
          <p:nvPr/>
        </p:nvSpPr>
        <p:spPr>
          <a:xfrm>
            <a:off x="914400" y="405910"/>
            <a:ext cx="4478021" cy="382156"/>
          </a:xfrm>
          <a:prstGeom prst="rect">
            <a:avLst/>
          </a:prstGeom>
        </p:spPr>
        <p:txBody>
          <a:bodyPr vert="horz" wrap="square" lIns="0" tIns="12700" rIns="0" bIns="0" rtlCol="0">
            <a:spAutoFit/>
          </a:bodyPr>
          <a:lstStyle/>
          <a:p>
            <a:pPr marL="12700">
              <a:lnSpc>
                <a:spcPct val="100000"/>
              </a:lnSpc>
              <a:spcBef>
                <a:spcPts val="100"/>
              </a:spcBef>
              <a:tabLst>
                <a:tab pos="916305" algn="l"/>
                <a:tab pos="1721485" algn="l"/>
              </a:tabLst>
            </a:pPr>
            <a:r>
              <a:rPr lang="en-IN" sz="2400" dirty="0"/>
              <a:t>WHAT MAKES US DIFFERENT</a:t>
            </a:r>
            <a:endParaRPr sz="2200" dirty="0">
              <a:latin typeface="Cambria"/>
              <a:cs typeface="Cambria"/>
            </a:endParaRPr>
          </a:p>
        </p:txBody>
      </p:sp>
      <p:sp>
        <p:nvSpPr>
          <p:cNvPr id="25" name="object 25" descr="$PPTXTitle"/>
          <p:cNvSpPr txBox="1">
            <a:spLocks noGrp="1"/>
          </p:cNvSpPr>
          <p:nvPr>
            <p:ph type="title"/>
          </p:nvPr>
        </p:nvSpPr>
        <p:spPr>
          <a:xfrm>
            <a:off x="869568" y="1004799"/>
            <a:ext cx="10410190" cy="635000"/>
          </a:xfrm>
          <a:prstGeom prst="rect">
            <a:avLst/>
          </a:prstGeom>
        </p:spPr>
        <p:txBody>
          <a:bodyPr vert="horz" wrap="square" lIns="0" tIns="12700" rIns="0" bIns="0" rtlCol="0">
            <a:spAutoFit/>
          </a:bodyPr>
          <a:lstStyle/>
          <a:p>
            <a:pPr marL="12700">
              <a:lnSpc>
                <a:spcPct val="100000"/>
              </a:lnSpc>
              <a:spcBef>
                <a:spcPts val="100"/>
              </a:spcBef>
            </a:pPr>
            <a:r>
              <a:rPr spc="-10" dirty="0"/>
              <a:t>Innovation</a:t>
            </a:r>
            <a:r>
              <a:rPr spc="-105" dirty="0"/>
              <a:t> </a:t>
            </a:r>
            <a:r>
              <a:rPr dirty="0"/>
              <a:t>&amp;</a:t>
            </a:r>
            <a:r>
              <a:rPr spc="-105" dirty="0"/>
              <a:t> </a:t>
            </a:r>
            <a:r>
              <a:rPr spc="-25" dirty="0"/>
              <a:t>Technology</a:t>
            </a:r>
          </a:p>
        </p:txBody>
      </p:sp>
      <p:sp>
        <p:nvSpPr>
          <p:cNvPr id="26" name="object 26"/>
          <p:cNvSpPr txBox="1"/>
          <p:nvPr/>
        </p:nvSpPr>
        <p:spPr>
          <a:xfrm>
            <a:off x="16887068" y="9788567"/>
            <a:ext cx="7448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04</a:t>
            </a:r>
            <a:r>
              <a:rPr sz="1800" spc="-15" dirty="0">
                <a:latin typeface="Cambria"/>
                <a:cs typeface="Cambria"/>
              </a:rPr>
              <a:t> </a:t>
            </a:r>
            <a:r>
              <a:rPr sz="1800" dirty="0">
                <a:latin typeface="Cambria"/>
                <a:cs typeface="Cambria"/>
              </a:rPr>
              <a:t>/</a:t>
            </a:r>
            <a:r>
              <a:rPr sz="1800" spc="-15" dirty="0">
                <a:latin typeface="Cambria"/>
                <a:cs typeface="Cambria"/>
              </a:rPr>
              <a:t> </a:t>
            </a:r>
            <a:r>
              <a:rPr sz="1800" spc="-25" dirty="0">
                <a:latin typeface="Cambria"/>
                <a:cs typeface="Cambria"/>
              </a:rPr>
              <a:t>05</a:t>
            </a:r>
            <a:endParaRPr sz="1800">
              <a:latin typeface="Cambria"/>
              <a:cs typeface="Cambria"/>
            </a:endParaRPr>
          </a:p>
        </p:txBody>
      </p:sp>
      <p:sp>
        <p:nvSpPr>
          <p:cNvPr id="27" name="object 27"/>
          <p:cNvSpPr txBox="1"/>
          <p:nvPr/>
        </p:nvSpPr>
        <p:spPr>
          <a:xfrm>
            <a:off x="506672" y="9788567"/>
            <a:ext cx="10445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SS26</a:t>
            </a:r>
            <a:r>
              <a:rPr sz="1800" spc="-5" dirty="0">
                <a:latin typeface="Cambria"/>
                <a:cs typeface="Cambria"/>
              </a:rPr>
              <a:t> </a:t>
            </a:r>
            <a:r>
              <a:rPr sz="1800" dirty="0">
                <a:latin typeface="Cambria"/>
                <a:cs typeface="Cambria"/>
              </a:rPr>
              <a:t>·</a:t>
            </a:r>
            <a:r>
              <a:rPr sz="1800" spc="-5" dirty="0">
                <a:latin typeface="Cambria"/>
                <a:cs typeface="Cambria"/>
              </a:rPr>
              <a:t> </a:t>
            </a:r>
            <a:r>
              <a:rPr sz="1800" spc="-25" dirty="0">
                <a:latin typeface="Cambria"/>
                <a:cs typeface="Cambria"/>
              </a:rPr>
              <a:t>AIH</a:t>
            </a:r>
            <a:endParaRPr sz="1800">
              <a:latin typeface="Cambria"/>
              <a:cs typeface="Cambria"/>
            </a:endParaRPr>
          </a:p>
        </p:txBody>
      </p:sp>
      <p:sp>
        <p:nvSpPr>
          <p:cNvPr id="28" name="object 28"/>
          <p:cNvSpPr txBox="1"/>
          <p:nvPr/>
        </p:nvSpPr>
        <p:spPr>
          <a:xfrm>
            <a:off x="10883412" y="3363907"/>
            <a:ext cx="2676525" cy="421640"/>
          </a:xfrm>
          <a:prstGeom prst="rect">
            <a:avLst/>
          </a:prstGeom>
        </p:spPr>
        <p:txBody>
          <a:bodyPr vert="horz" wrap="square" lIns="0" tIns="12700" rIns="0" bIns="0" rtlCol="0">
            <a:spAutoFit/>
          </a:bodyPr>
          <a:lstStyle/>
          <a:p>
            <a:pPr marL="12700">
              <a:lnSpc>
                <a:spcPct val="100000"/>
              </a:lnSpc>
              <a:spcBef>
                <a:spcPts val="100"/>
              </a:spcBef>
            </a:pPr>
            <a:r>
              <a:rPr sz="2600" b="1" dirty="0">
                <a:latin typeface="Cambria"/>
                <a:cs typeface="Cambria"/>
              </a:rPr>
              <a:t>Technology</a:t>
            </a:r>
            <a:r>
              <a:rPr sz="2600" b="1" spc="-95" dirty="0">
                <a:latin typeface="Cambria"/>
                <a:cs typeface="Cambria"/>
              </a:rPr>
              <a:t> </a:t>
            </a:r>
            <a:r>
              <a:rPr sz="2600" b="1" spc="-20" dirty="0">
                <a:latin typeface="Cambria"/>
                <a:cs typeface="Cambria"/>
              </a:rPr>
              <a:t>Stack</a:t>
            </a:r>
            <a:endParaRPr sz="2600">
              <a:latin typeface="Cambria"/>
              <a:cs typeface="Cambria"/>
            </a:endParaRPr>
          </a:p>
        </p:txBody>
      </p:sp>
      <p:sp>
        <p:nvSpPr>
          <p:cNvPr id="29" name="object 29"/>
          <p:cNvSpPr txBox="1"/>
          <p:nvPr/>
        </p:nvSpPr>
        <p:spPr>
          <a:xfrm>
            <a:off x="2076303" y="2220825"/>
            <a:ext cx="3837304" cy="421640"/>
          </a:xfrm>
          <a:prstGeom prst="rect">
            <a:avLst/>
          </a:prstGeom>
        </p:spPr>
        <p:txBody>
          <a:bodyPr vert="horz" wrap="square" lIns="0" tIns="12700" rIns="0" bIns="0" rtlCol="0">
            <a:spAutoFit/>
          </a:bodyPr>
          <a:lstStyle/>
          <a:p>
            <a:pPr marL="12700">
              <a:lnSpc>
                <a:spcPct val="100000"/>
              </a:lnSpc>
              <a:spcBef>
                <a:spcPts val="100"/>
              </a:spcBef>
            </a:pPr>
            <a:r>
              <a:rPr sz="2600" b="1" spc="-10" dirty="0">
                <a:latin typeface="Cambria"/>
                <a:cs typeface="Cambria"/>
              </a:rPr>
              <a:t>Innovation</a:t>
            </a:r>
            <a:r>
              <a:rPr sz="2600" b="1" spc="-80" dirty="0">
                <a:latin typeface="Cambria"/>
                <a:cs typeface="Cambria"/>
              </a:rPr>
              <a:t> </a:t>
            </a:r>
            <a:r>
              <a:rPr sz="2600" b="1" dirty="0">
                <a:latin typeface="Cambria"/>
                <a:cs typeface="Cambria"/>
              </a:rPr>
              <a:t>&amp;</a:t>
            </a:r>
            <a:r>
              <a:rPr sz="2600" b="1" spc="-75" dirty="0">
                <a:latin typeface="Cambria"/>
                <a:cs typeface="Cambria"/>
              </a:rPr>
              <a:t> </a:t>
            </a:r>
            <a:r>
              <a:rPr sz="2600" b="1" spc="-10" dirty="0">
                <a:latin typeface="Cambria"/>
                <a:cs typeface="Cambria"/>
              </a:rPr>
              <a:t>Uniqueness</a:t>
            </a:r>
            <a:endParaRPr sz="2600" dirty="0">
              <a:latin typeface="Cambria"/>
              <a:cs typeface="Cambria"/>
            </a:endParaRPr>
          </a:p>
        </p:txBody>
      </p:sp>
      <p:sp>
        <p:nvSpPr>
          <p:cNvPr id="30" name="object 30"/>
          <p:cNvSpPr txBox="1"/>
          <p:nvPr/>
        </p:nvSpPr>
        <p:spPr>
          <a:xfrm>
            <a:off x="10010163" y="6594862"/>
            <a:ext cx="583565" cy="421640"/>
          </a:xfrm>
          <a:prstGeom prst="rect">
            <a:avLst/>
          </a:prstGeom>
        </p:spPr>
        <p:txBody>
          <a:bodyPr vert="horz" wrap="square" lIns="0" tIns="12700" rIns="0" bIns="0" rtlCol="0">
            <a:spAutoFit/>
          </a:bodyPr>
          <a:lstStyle/>
          <a:p>
            <a:pPr marL="12700">
              <a:lnSpc>
                <a:spcPct val="100000"/>
              </a:lnSpc>
              <a:spcBef>
                <a:spcPts val="100"/>
              </a:spcBef>
            </a:pPr>
            <a:r>
              <a:rPr sz="2600" b="1" spc="-25" dirty="0">
                <a:latin typeface="Cambria"/>
                <a:cs typeface="Cambria"/>
              </a:rPr>
              <a:t>&lt;/&gt;</a:t>
            </a:r>
            <a:endParaRPr sz="2600">
              <a:latin typeface="Cambria"/>
              <a:cs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11161" y="2579051"/>
            <a:ext cx="12676834" cy="3557383"/>
          </a:xfrm>
          <a:prstGeom prst="rect">
            <a:avLst/>
          </a:prstGeom>
        </p:spPr>
        <p:txBody>
          <a:bodyPr vert="horz" wrap="square" lIns="0" tIns="116839" rIns="0" bIns="0" rtlCol="0">
            <a:spAutoFit/>
          </a:bodyPr>
          <a:lstStyle/>
          <a:p>
            <a:pPr marL="12700">
              <a:lnSpc>
                <a:spcPct val="100000"/>
              </a:lnSpc>
              <a:spcBef>
                <a:spcPts val="919"/>
              </a:spcBef>
            </a:pPr>
            <a:r>
              <a:rPr sz="2400" b="1" dirty="0">
                <a:latin typeface="Cambria"/>
                <a:cs typeface="Cambria"/>
              </a:rPr>
              <a:t>Idea </a:t>
            </a:r>
            <a:r>
              <a:rPr sz="2400" b="1" spc="-10" dirty="0">
                <a:latin typeface="Cambria"/>
                <a:cs typeface="Cambria"/>
              </a:rPr>
              <a:t>Evaluation</a:t>
            </a:r>
            <a:endParaRPr lang="en-IN" sz="2400" b="1" spc="-10" dirty="0">
              <a:latin typeface="Cambria"/>
              <a:cs typeface="Cambria"/>
            </a:endParaRPr>
          </a:p>
          <a:p>
            <a:r>
              <a:rPr lang="en-IN" sz="2000" i="1" dirty="0"/>
              <a:t>(Assessing Innovation, Feasibility &amp; Real-World Impact)</a:t>
            </a:r>
            <a:endParaRPr lang="en-IN" sz="2000" dirty="0"/>
          </a:p>
          <a:p>
            <a:r>
              <a:rPr lang="en-IN" sz="2000" b="1" dirty="0"/>
              <a:t>Problem Relevance</a:t>
            </a:r>
            <a:endParaRPr lang="en-IN" sz="2000" dirty="0"/>
          </a:p>
          <a:p>
            <a:r>
              <a:rPr lang="en-IN" sz="2000" dirty="0"/>
              <a:t>Solves real-world challenges of phishing, scams, and digital fraud.</a:t>
            </a:r>
          </a:p>
          <a:p>
            <a:r>
              <a:rPr lang="en-IN" sz="1600" b="1" dirty="0"/>
              <a:t>Innovation</a:t>
            </a:r>
            <a:endParaRPr lang="en-IN" sz="1600" dirty="0"/>
          </a:p>
          <a:p>
            <a:r>
              <a:rPr lang="en-IN" sz="2000" dirty="0"/>
              <a:t>AI-first cybersecurity assistant with real-time threat detection and simple explanations. </a:t>
            </a:r>
          </a:p>
          <a:p>
            <a:r>
              <a:rPr lang="en-IN" sz="1600" b="1" dirty="0"/>
              <a:t>Feasibility</a:t>
            </a:r>
            <a:endParaRPr lang="en-IN" sz="1600" dirty="0"/>
          </a:p>
          <a:p>
            <a:r>
              <a:rPr lang="en-IN" dirty="0"/>
              <a:t>Uses existing AI models, security APIs, and scalable cloud infrastructure. </a:t>
            </a:r>
          </a:p>
          <a:p>
            <a:r>
              <a:rPr lang="en-IN" sz="1600" b="1" dirty="0"/>
              <a:t>Impact</a:t>
            </a:r>
            <a:endParaRPr lang="en-IN" sz="1600" dirty="0"/>
          </a:p>
          <a:p>
            <a:r>
              <a:rPr lang="en-IN" dirty="0"/>
              <a:t>Helps users prevent fraud, improve cybersecurity awareness, and make safer digital decisions.</a:t>
            </a:r>
          </a:p>
          <a:p>
            <a:pPr marL="12700">
              <a:lnSpc>
                <a:spcPct val="100000"/>
              </a:lnSpc>
              <a:spcBef>
                <a:spcPts val="919"/>
              </a:spcBef>
            </a:pPr>
            <a:endParaRPr lang="en-IN" sz="2400" b="1" spc="-10" dirty="0">
              <a:latin typeface="Cambria"/>
              <a:cs typeface="Cambria"/>
            </a:endParaRPr>
          </a:p>
        </p:txBody>
      </p:sp>
      <p:sp>
        <p:nvSpPr>
          <p:cNvPr id="3" name="object 3"/>
          <p:cNvSpPr txBox="1"/>
          <p:nvPr/>
        </p:nvSpPr>
        <p:spPr>
          <a:xfrm>
            <a:off x="1016000" y="1139557"/>
            <a:ext cx="4889500" cy="360680"/>
          </a:xfrm>
          <a:prstGeom prst="rect">
            <a:avLst/>
          </a:prstGeom>
        </p:spPr>
        <p:txBody>
          <a:bodyPr vert="horz" wrap="square" lIns="0" tIns="12065" rIns="0" bIns="0" rtlCol="0">
            <a:spAutoFit/>
          </a:bodyPr>
          <a:lstStyle/>
          <a:p>
            <a:pPr marL="12700">
              <a:lnSpc>
                <a:spcPct val="100000"/>
              </a:lnSpc>
              <a:spcBef>
                <a:spcPts val="95"/>
              </a:spcBef>
              <a:tabLst>
                <a:tab pos="2299335" algn="l"/>
                <a:tab pos="2668905" algn="l"/>
              </a:tabLst>
            </a:pPr>
            <a:r>
              <a:rPr sz="2200" b="1" dirty="0">
                <a:latin typeface="Cambria"/>
                <a:cs typeface="Cambria"/>
              </a:rPr>
              <a:t>F</a:t>
            </a:r>
            <a:r>
              <a:rPr sz="2200" b="1" spc="-95" dirty="0">
                <a:latin typeface="Cambria"/>
                <a:cs typeface="Cambria"/>
              </a:rPr>
              <a:t> </a:t>
            </a:r>
            <a:r>
              <a:rPr sz="2200" b="1" dirty="0">
                <a:latin typeface="Cambria"/>
                <a:cs typeface="Cambria"/>
              </a:rPr>
              <a:t>E</a:t>
            </a:r>
            <a:r>
              <a:rPr sz="2200" b="1" spc="-95" dirty="0">
                <a:latin typeface="Cambria"/>
                <a:cs typeface="Cambria"/>
              </a:rPr>
              <a:t> </a:t>
            </a:r>
            <a:r>
              <a:rPr sz="2200" b="1" dirty="0">
                <a:latin typeface="Cambria"/>
                <a:cs typeface="Cambria"/>
              </a:rPr>
              <a:t>A</a:t>
            </a:r>
            <a:r>
              <a:rPr sz="2200" b="1" spc="-95" dirty="0">
                <a:latin typeface="Cambria"/>
                <a:cs typeface="Cambria"/>
              </a:rPr>
              <a:t> </a:t>
            </a:r>
            <a:r>
              <a:rPr sz="2200" b="1" dirty="0">
                <a:latin typeface="Cambria"/>
                <a:cs typeface="Cambria"/>
              </a:rPr>
              <a:t>S</a:t>
            </a:r>
            <a:r>
              <a:rPr sz="2200" b="1" spc="-95" dirty="0">
                <a:latin typeface="Cambria"/>
                <a:cs typeface="Cambria"/>
              </a:rPr>
              <a:t> </a:t>
            </a:r>
            <a:r>
              <a:rPr sz="2200" b="1" dirty="0">
                <a:latin typeface="Cambria"/>
                <a:cs typeface="Cambria"/>
              </a:rPr>
              <a:t>I</a:t>
            </a:r>
            <a:r>
              <a:rPr sz="2200" b="1" spc="-90" dirty="0">
                <a:latin typeface="Cambria"/>
                <a:cs typeface="Cambria"/>
              </a:rPr>
              <a:t> </a:t>
            </a:r>
            <a:r>
              <a:rPr sz="2200" b="1" dirty="0">
                <a:latin typeface="Cambria"/>
                <a:cs typeface="Cambria"/>
              </a:rPr>
              <a:t>B</a:t>
            </a:r>
            <a:r>
              <a:rPr sz="2200" b="1" spc="-95" dirty="0">
                <a:latin typeface="Cambria"/>
                <a:cs typeface="Cambria"/>
              </a:rPr>
              <a:t> </a:t>
            </a:r>
            <a:r>
              <a:rPr sz="2200" b="1" dirty="0">
                <a:latin typeface="Cambria"/>
                <a:cs typeface="Cambria"/>
              </a:rPr>
              <a:t>I</a:t>
            </a:r>
            <a:r>
              <a:rPr sz="2200" b="1" spc="-95" dirty="0">
                <a:latin typeface="Cambria"/>
                <a:cs typeface="Cambria"/>
              </a:rPr>
              <a:t> </a:t>
            </a:r>
            <a:r>
              <a:rPr sz="2200" b="1" dirty="0">
                <a:latin typeface="Cambria"/>
                <a:cs typeface="Cambria"/>
              </a:rPr>
              <a:t>L</a:t>
            </a:r>
            <a:r>
              <a:rPr sz="2200" b="1" spc="-95" dirty="0">
                <a:latin typeface="Cambria"/>
                <a:cs typeface="Cambria"/>
              </a:rPr>
              <a:t> </a:t>
            </a:r>
            <a:r>
              <a:rPr sz="2200" b="1" dirty="0">
                <a:latin typeface="Cambria"/>
                <a:cs typeface="Cambria"/>
              </a:rPr>
              <a:t>I</a:t>
            </a:r>
            <a:r>
              <a:rPr sz="2200" b="1" spc="-95" dirty="0">
                <a:latin typeface="Cambria"/>
                <a:cs typeface="Cambria"/>
              </a:rPr>
              <a:t> </a:t>
            </a:r>
            <a:r>
              <a:rPr sz="2200" b="1" dirty="0">
                <a:latin typeface="Cambria"/>
                <a:cs typeface="Cambria"/>
              </a:rPr>
              <a:t>T</a:t>
            </a:r>
            <a:r>
              <a:rPr sz="2200" b="1" spc="-90" dirty="0">
                <a:latin typeface="Cambria"/>
                <a:cs typeface="Cambria"/>
              </a:rPr>
              <a:t> </a:t>
            </a:r>
            <a:r>
              <a:rPr sz="2200" b="1" spc="-50" dirty="0">
                <a:latin typeface="Cambria"/>
                <a:cs typeface="Cambria"/>
              </a:rPr>
              <a:t>Y</a:t>
            </a:r>
            <a:r>
              <a:rPr sz="2200" b="1" dirty="0">
                <a:latin typeface="Cambria"/>
                <a:cs typeface="Cambria"/>
              </a:rPr>
              <a:t>	</a:t>
            </a:r>
            <a:r>
              <a:rPr sz="2200" b="1" spc="-50" dirty="0">
                <a:latin typeface="Cambria"/>
                <a:cs typeface="Cambria"/>
              </a:rPr>
              <a:t>&amp;</a:t>
            </a:r>
            <a:r>
              <a:rPr sz="2200" b="1" dirty="0">
                <a:latin typeface="Cambria"/>
                <a:cs typeface="Cambria"/>
              </a:rPr>
              <a:t>	S</a:t>
            </a:r>
            <a:r>
              <a:rPr sz="2200" b="1" spc="-95" dirty="0">
                <a:latin typeface="Cambria"/>
                <a:cs typeface="Cambria"/>
              </a:rPr>
              <a:t> </a:t>
            </a:r>
            <a:r>
              <a:rPr sz="2200" b="1" dirty="0">
                <a:latin typeface="Cambria"/>
                <a:cs typeface="Cambria"/>
              </a:rPr>
              <a:t>C</a:t>
            </a:r>
            <a:r>
              <a:rPr sz="2200" b="1" spc="-95" dirty="0">
                <a:latin typeface="Cambria"/>
                <a:cs typeface="Cambria"/>
              </a:rPr>
              <a:t> </a:t>
            </a:r>
            <a:r>
              <a:rPr sz="2200" b="1" dirty="0">
                <a:latin typeface="Cambria"/>
                <a:cs typeface="Cambria"/>
              </a:rPr>
              <a:t>A</a:t>
            </a:r>
            <a:r>
              <a:rPr sz="2200" b="1" spc="-95" dirty="0">
                <a:latin typeface="Cambria"/>
                <a:cs typeface="Cambria"/>
              </a:rPr>
              <a:t> </a:t>
            </a:r>
            <a:r>
              <a:rPr sz="2200" b="1" dirty="0">
                <a:latin typeface="Cambria"/>
                <a:cs typeface="Cambria"/>
              </a:rPr>
              <a:t>L</a:t>
            </a:r>
            <a:r>
              <a:rPr sz="2200" b="1" spc="-95" dirty="0">
                <a:latin typeface="Cambria"/>
                <a:cs typeface="Cambria"/>
              </a:rPr>
              <a:t> </a:t>
            </a:r>
            <a:r>
              <a:rPr sz="2200" b="1" dirty="0">
                <a:latin typeface="Cambria"/>
                <a:cs typeface="Cambria"/>
              </a:rPr>
              <a:t>A</a:t>
            </a:r>
            <a:r>
              <a:rPr sz="2200" b="1" spc="-95" dirty="0">
                <a:latin typeface="Cambria"/>
                <a:cs typeface="Cambria"/>
              </a:rPr>
              <a:t> </a:t>
            </a:r>
            <a:r>
              <a:rPr sz="2200" b="1" dirty="0">
                <a:latin typeface="Cambria"/>
                <a:cs typeface="Cambria"/>
              </a:rPr>
              <a:t>B</a:t>
            </a:r>
            <a:r>
              <a:rPr sz="2200" b="1" spc="-95" dirty="0">
                <a:latin typeface="Cambria"/>
                <a:cs typeface="Cambria"/>
              </a:rPr>
              <a:t> </a:t>
            </a:r>
            <a:r>
              <a:rPr sz="2200" b="1" dirty="0">
                <a:latin typeface="Cambria"/>
                <a:cs typeface="Cambria"/>
              </a:rPr>
              <a:t>I</a:t>
            </a:r>
            <a:r>
              <a:rPr sz="2200" b="1" spc="-95" dirty="0">
                <a:latin typeface="Cambria"/>
                <a:cs typeface="Cambria"/>
              </a:rPr>
              <a:t> </a:t>
            </a:r>
            <a:r>
              <a:rPr sz="2200" b="1" dirty="0">
                <a:latin typeface="Cambria"/>
                <a:cs typeface="Cambria"/>
              </a:rPr>
              <a:t>L</a:t>
            </a:r>
            <a:r>
              <a:rPr sz="2200" b="1" spc="-95" dirty="0">
                <a:latin typeface="Cambria"/>
                <a:cs typeface="Cambria"/>
              </a:rPr>
              <a:t> </a:t>
            </a:r>
            <a:r>
              <a:rPr sz="2200" b="1" dirty="0">
                <a:latin typeface="Cambria"/>
                <a:cs typeface="Cambria"/>
              </a:rPr>
              <a:t>I</a:t>
            </a:r>
            <a:r>
              <a:rPr sz="2200" b="1" spc="-95" dirty="0">
                <a:latin typeface="Cambria"/>
                <a:cs typeface="Cambria"/>
              </a:rPr>
              <a:t> </a:t>
            </a:r>
            <a:r>
              <a:rPr sz="2200" b="1" dirty="0">
                <a:latin typeface="Cambria"/>
                <a:cs typeface="Cambria"/>
              </a:rPr>
              <a:t>T</a:t>
            </a:r>
            <a:r>
              <a:rPr sz="2200" b="1" spc="-95" dirty="0">
                <a:latin typeface="Cambria"/>
                <a:cs typeface="Cambria"/>
              </a:rPr>
              <a:t> </a:t>
            </a:r>
            <a:r>
              <a:rPr sz="2200" b="1" spc="-50" dirty="0">
                <a:latin typeface="Cambria"/>
                <a:cs typeface="Cambria"/>
              </a:rPr>
              <a:t>Y</a:t>
            </a:r>
            <a:endParaRPr sz="2200" dirty="0">
              <a:latin typeface="Cambria"/>
              <a:cs typeface="Cambria"/>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From</a:t>
            </a:r>
            <a:r>
              <a:rPr spc="-145" dirty="0"/>
              <a:t> </a:t>
            </a:r>
            <a:r>
              <a:rPr spc="-10" dirty="0"/>
              <a:t>Prototype</a:t>
            </a:r>
            <a:r>
              <a:rPr spc="-140" dirty="0"/>
              <a:t> </a:t>
            </a:r>
            <a:r>
              <a:rPr dirty="0"/>
              <a:t>to</a:t>
            </a:r>
            <a:r>
              <a:rPr spc="-145" dirty="0"/>
              <a:t> </a:t>
            </a:r>
            <a:r>
              <a:rPr spc="-60" dirty="0"/>
              <a:t>Real-</a:t>
            </a:r>
            <a:r>
              <a:rPr spc="-35" dirty="0"/>
              <a:t>World</a:t>
            </a:r>
            <a:r>
              <a:rPr spc="-140" dirty="0"/>
              <a:t> </a:t>
            </a:r>
            <a:r>
              <a:rPr spc="-10" dirty="0"/>
              <a:t>Impact</a:t>
            </a:r>
          </a:p>
        </p:txBody>
      </p:sp>
      <p:sp>
        <p:nvSpPr>
          <p:cNvPr id="5" name="object 5"/>
          <p:cNvSpPr txBox="1"/>
          <p:nvPr/>
        </p:nvSpPr>
        <p:spPr>
          <a:xfrm>
            <a:off x="16887068" y="9788567"/>
            <a:ext cx="7448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05</a:t>
            </a:r>
            <a:r>
              <a:rPr sz="1800" spc="-15" dirty="0">
                <a:latin typeface="Cambria"/>
                <a:cs typeface="Cambria"/>
              </a:rPr>
              <a:t> </a:t>
            </a:r>
            <a:r>
              <a:rPr sz="1800" dirty="0">
                <a:latin typeface="Cambria"/>
                <a:cs typeface="Cambria"/>
              </a:rPr>
              <a:t>/</a:t>
            </a:r>
            <a:r>
              <a:rPr sz="1800" spc="-15" dirty="0">
                <a:latin typeface="Cambria"/>
                <a:cs typeface="Cambria"/>
              </a:rPr>
              <a:t> </a:t>
            </a:r>
            <a:r>
              <a:rPr sz="1800" spc="-25" dirty="0">
                <a:latin typeface="Cambria"/>
                <a:cs typeface="Cambria"/>
              </a:rPr>
              <a:t>05</a:t>
            </a:r>
            <a:endParaRPr sz="1800">
              <a:latin typeface="Cambria"/>
              <a:cs typeface="Cambria"/>
            </a:endParaRPr>
          </a:p>
        </p:txBody>
      </p:sp>
      <p:sp>
        <p:nvSpPr>
          <p:cNvPr id="6" name="object 6"/>
          <p:cNvSpPr txBox="1"/>
          <p:nvPr/>
        </p:nvSpPr>
        <p:spPr>
          <a:xfrm>
            <a:off x="506672" y="9788567"/>
            <a:ext cx="10445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SS26</a:t>
            </a:r>
            <a:r>
              <a:rPr sz="1800" spc="-5" dirty="0">
                <a:latin typeface="Cambria"/>
                <a:cs typeface="Cambria"/>
              </a:rPr>
              <a:t> </a:t>
            </a:r>
            <a:r>
              <a:rPr sz="1800" dirty="0">
                <a:latin typeface="Cambria"/>
                <a:cs typeface="Cambria"/>
              </a:rPr>
              <a:t>·</a:t>
            </a:r>
            <a:r>
              <a:rPr sz="1800" spc="-5" dirty="0">
                <a:latin typeface="Cambria"/>
                <a:cs typeface="Cambria"/>
              </a:rPr>
              <a:t> </a:t>
            </a:r>
            <a:r>
              <a:rPr sz="1800" spc="-25" dirty="0">
                <a:latin typeface="Cambria"/>
                <a:cs typeface="Cambria"/>
              </a:rPr>
              <a:t>AIH</a:t>
            </a:r>
            <a:endParaRPr sz="1800">
              <a:latin typeface="Cambria"/>
              <a:cs typeface="Cambria"/>
            </a:endParaRPr>
          </a:p>
        </p:txBody>
      </p:sp>
      <p:pic>
        <p:nvPicPr>
          <p:cNvPr id="7" name="object 7"/>
          <p:cNvPicPr/>
          <p:nvPr/>
        </p:nvPicPr>
        <p:blipFill>
          <a:blip r:embed="rId2" cstate="print"/>
          <a:stretch>
            <a:fillRect/>
          </a:stretch>
        </p:blipFill>
        <p:spPr>
          <a:xfrm>
            <a:off x="2496231" y="6040935"/>
            <a:ext cx="95250" cy="95249"/>
          </a:xfrm>
          <a:prstGeom prst="rect">
            <a:avLst/>
          </a:prstGeom>
        </p:spPr>
      </p:pic>
      <p:sp>
        <p:nvSpPr>
          <p:cNvPr id="8" name="object 8"/>
          <p:cNvSpPr txBox="1"/>
          <p:nvPr/>
        </p:nvSpPr>
        <p:spPr>
          <a:xfrm>
            <a:off x="2971800" y="5893730"/>
            <a:ext cx="8949696" cy="4044697"/>
          </a:xfrm>
          <a:prstGeom prst="rect">
            <a:avLst/>
          </a:prstGeom>
        </p:spPr>
        <p:txBody>
          <a:bodyPr vert="horz" wrap="square" lIns="0" tIns="12700" rIns="0" bIns="0" rtlCol="0">
            <a:spAutoFit/>
          </a:bodyPr>
          <a:lstStyle/>
          <a:p>
            <a:r>
              <a:rPr lang="en-IN" sz="2000" b="1" dirty="0"/>
              <a:t>Feasibility Analysis</a:t>
            </a:r>
          </a:p>
          <a:p>
            <a:r>
              <a:rPr lang="en-IN" dirty="0"/>
              <a:t>Built using existing AI models, cybersecurity APIs, and cloud infrastructure </a:t>
            </a:r>
          </a:p>
          <a:p>
            <a:r>
              <a:rPr lang="en-IN" dirty="0"/>
              <a:t>Uses proven technologies: LLMs, OCR, ML-based detection, and threat intelligence </a:t>
            </a:r>
          </a:p>
          <a:p>
            <a:r>
              <a:rPr lang="en-IN" dirty="0"/>
              <a:t>Modular architecture enables easy development and future upgrade</a:t>
            </a:r>
          </a:p>
          <a:p>
            <a:r>
              <a:rPr lang="en-IN" sz="2000" b="1" dirty="0"/>
              <a:t>Potential Challenges &amp; Risks</a:t>
            </a:r>
          </a:p>
          <a:p>
            <a:r>
              <a:rPr lang="en-IN" sz="2000" dirty="0"/>
              <a:t>Evolving cyber threats may affect detection accuracy </a:t>
            </a:r>
          </a:p>
          <a:p>
            <a:r>
              <a:rPr lang="en-IN" sz="2000" dirty="0"/>
              <a:t>Ensuring user data privacy and secure processing </a:t>
            </a:r>
          </a:p>
          <a:p>
            <a:r>
              <a:rPr lang="en-IN" sz="2000" dirty="0"/>
              <a:t>Continuous updates required for new scam patterns</a:t>
            </a:r>
          </a:p>
          <a:p>
            <a:r>
              <a:rPr lang="en-IN" sz="2000" b="1" dirty="0"/>
              <a:t>Strategies to Overcome Challenges</a:t>
            </a:r>
          </a:p>
          <a:p>
            <a:r>
              <a:rPr lang="en-IN" sz="2000" dirty="0"/>
              <a:t>Regular model improvement with updated threat datasets </a:t>
            </a:r>
          </a:p>
          <a:p>
            <a:r>
              <a:rPr lang="en-IN" sz="2000" dirty="0"/>
              <a:t>Secure data handling and privacy-focused design </a:t>
            </a:r>
          </a:p>
          <a:p>
            <a:r>
              <a:rPr lang="en-IN" sz="2000" dirty="0"/>
              <a:t>Integration with trusted security APIs for real-time intelligence</a:t>
            </a:r>
          </a:p>
          <a:p>
            <a:endParaRPr lang="en-IN" sz="2800" dirty="0"/>
          </a:p>
        </p:txBody>
      </p:sp>
      <p:pic>
        <p:nvPicPr>
          <p:cNvPr id="9" name="object 9"/>
          <p:cNvPicPr/>
          <p:nvPr/>
        </p:nvPicPr>
        <p:blipFill>
          <a:blip r:embed="rId2" cstate="print"/>
          <a:stretch>
            <a:fillRect/>
          </a:stretch>
        </p:blipFill>
        <p:spPr>
          <a:xfrm>
            <a:off x="2470467" y="7124700"/>
            <a:ext cx="95250" cy="95249"/>
          </a:xfrm>
          <a:prstGeom prst="rect">
            <a:avLst/>
          </a:prstGeom>
        </p:spPr>
      </p:pic>
      <p:pic>
        <p:nvPicPr>
          <p:cNvPr id="10" name="object 10"/>
          <p:cNvPicPr/>
          <p:nvPr/>
        </p:nvPicPr>
        <p:blipFill>
          <a:blip r:embed="rId2" cstate="print"/>
          <a:stretch>
            <a:fillRect/>
          </a:stretch>
        </p:blipFill>
        <p:spPr>
          <a:xfrm>
            <a:off x="2422842" y="8342949"/>
            <a:ext cx="95250" cy="95249"/>
          </a:xfrm>
          <a:prstGeom prst="rect">
            <a:avLst/>
          </a:prstGeom>
        </p:spPr>
      </p:pic>
      <p:sp>
        <p:nvSpPr>
          <p:cNvPr id="11" name="object 11"/>
          <p:cNvSpPr/>
          <p:nvPr/>
        </p:nvSpPr>
        <p:spPr>
          <a:xfrm>
            <a:off x="1600200" y="2781300"/>
            <a:ext cx="581025" cy="581025"/>
          </a:xfrm>
          <a:custGeom>
            <a:avLst/>
            <a:gdLst/>
            <a:ahLst/>
            <a:cxnLst/>
            <a:rect l="l" t="t" r="r" b="b"/>
            <a:pathLst>
              <a:path w="581025" h="581025">
                <a:moveTo>
                  <a:pt x="421081" y="292379"/>
                </a:moveTo>
                <a:lnTo>
                  <a:pt x="420916" y="291985"/>
                </a:lnTo>
                <a:lnTo>
                  <a:pt x="420916" y="290842"/>
                </a:lnTo>
                <a:lnTo>
                  <a:pt x="420090" y="290029"/>
                </a:lnTo>
                <a:lnTo>
                  <a:pt x="419049" y="287515"/>
                </a:lnTo>
                <a:lnTo>
                  <a:pt x="301053" y="169443"/>
                </a:lnTo>
                <a:lnTo>
                  <a:pt x="293344" y="169443"/>
                </a:lnTo>
                <a:lnTo>
                  <a:pt x="283768" y="178943"/>
                </a:lnTo>
                <a:lnTo>
                  <a:pt x="283768" y="186651"/>
                </a:lnTo>
                <a:lnTo>
                  <a:pt x="382524" y="285407"/>
                </a:lnTo>
                <a:lnTo>
                  <a:pt x="167322" y="285407"/>
                </a:lnTo>
                <a:lnTo>
                  <a:pt x="161886" y="290842"/>
                </a:lnTo>
                <a:lnTo>
                  <a:pt x="161886" y="304317"/>
                </a:lnTo>
                <a:lnTo>
                  <a:pt x="167322" y="309753"/>
                </a:lnTo>
                <a:lnTo>
                  <a:pt x="382511" y="309753"/>
                </a:lnTo>
                <a:lnTo>
                  <a:pt x="283768" y="408432"/>
                </a:lnTo>
                <a:lnTo>
                  <a:pt x="283768" y="416140"/>
                </a:lnTo>
                <a:lnTo>
                  <a:pt x="290918" y="423278"/>
                </a:lnTo>
                <a:lnTo>
                  <a:pt x="294081" y="424497"/>
                </a:lnTo>
                <a:lnTo>
                  <a:pt x="297167" y="424497"/>
                </a:lnTo>
                <a:lnTo>
                  <a:pt x="300253" y="424497"/>
                </a:lnTo>
                <a:lnTo>
                  <a:pt x="303415" y="423278"/>
                </a:lnTo>
                <a:lnTo>
                  <a:pt x="419049" y="307721"/>
                </a:lnTo>
                <a:lnTo>
                  <a:pt x="420116" y="305117"/>
                </a:lnTo>
                <a:lnTo>
                  <a:pt x="420916" y="304317"/>
                </a:lnTo>
                <a:lnTo>
                  <a:pt x="420916" y="303174"/>
                </a:lnTo>
                <a:lnTo>
                  <a:pt x="421081" y="302768"/>
                </a:lnTo>
                <a:lnTo>
                  <a:pt x="421081" y="292379"/>
                </a:lnTo>
                <a:close/>
              </a:path>
              <a:path w="581025" h="581025">
                <a:moveTo>
                  <a:pt x="580936" y="290512"/>
                </a:moveTo>
                <a:lnTo>
                  <a:pt x="577138" y="243459"/>
                </a:lnTo>
                <a:lnTo>
                  <a:pt x="566115" y="198793"/>
                </a:lnTo>
                <a:lnTo>
                  <a:pt x="556602" y="176314"/>
                </a:lnTo>
                <a:lnTo>
                  <a:pt x="556602" y="290512"/>
                </a:lnTo>
                <a:lnTo>
                  <a:pt x="552310" y="338315"/>
                </a:lnTo>
                <a:lnTo>
                  <a:pt x="539927" y="383311"/>
                </a:lnTo>
                <a:lnTo>
                  <a:pt x="520230" y="424764"/>
                </a:lnTo>
                <a:lnTo>
                  <a:pt x="493966" y="461911"/>
                </a:lnTo>
                <a:lnTo>
                  <a:pt x="461886" y="494017"/>
                </a:lnTo>
                <a:lnTo>
                  <a:pt x="424738" y="520306"/>
                </a:lnTo>
                <a:lnTo>
                  <a:pt x="383298" y="540016"/>
                </a:lnTo>
                <a:lnTo>
                  <a:pt x="338302" y="552386"/>
                </a:lnTo>
                <a:lnTo>
                  <a:pt x="290512" y="556691"/>
                </a:lnTo>
                <a:lnTo>
                  <a:pt x="242722" y="552386"/>
                </a:lnTo>
                <a:lnTo>
                  <a:pt x="197713" y="540016"/>
                </a:lnTo>
                <a:lnTo>
                  <a:pt x="156260" y="520306"/>
                </a:lnTo>
                <a:lnTo>
                  <a:pt x="119100" y="494017"/>
                </a:lnTo>
                <a:lnTo>
                  <a:pt x="87007" y="461911"/>
                </a:lnTo>
                <a:lnTo>
                  <a:pt x="60731" y="424764"/>
                </a:lnTo>
                <a:lnTo>
                  <a:pt x="41021" y="383311"/>
                </a:lnTo>
                <a:lnTo>
                  <a:pt x="28638" y="338315"/>
                </a:lnTo>
                <a:lnTo>
                  <a:pt x="28575" y="337553"/>
                </a:lnTo>
                <a:lnTo>
                  <a:pt x="24345" y="290512"/>
                </a:lnTo>
                <a:lnTo>
                  <a:pt x="28638" y="242722"/>
                </a:lnTo>
                <a:lnTo>
                  <a:pt x="41021" y="197726"/>
                </a:lnTo>
                <a:lnTo>
                  <a:pt x="60731" y="156273"/>
                </a:lnTo>
                <a:lnTo>
                  <a:pt x="87058" y="119062"/>
                </a:lnTo>
                <a:lnTo>
                  <a:pt x="119100" y="87020"/>
                </a:lnTo>
                <a:lnTo>
                  <a:pt x="156260" y="60731"/>
                </a:lnTo>
                <a:lnTo>
                  <a:pt x="197713" y="41021"/>
                </a:lnTo>
                <a:lnTo>
                  <a:pt x="242722" y="28651"/>
                </a:lnTo>
                <a:lnTo>
                  <a:pt x="290512" y="24345"/>
                </a:lnTo>
                <a:lnTo>
                  <a:pt x="338277" y="28651"/>
                </a:lnTo>
                <a:lnTo>
                  <a:pt x="383260" y="41021"/>
                </a:lnTo>
                <a:lnTo>
                  <a:pt x="424700" y="60731"/>
                </a:lnTo>
                <a:lnTo>
                  <a:pt x="461848" y="87020"/>
                </a:lnTo>
                <a:lnTo>
                  <a:pt x="493877" y="119062"/>
                </a:lnTo>
                <a:lnTo>
                  <a:pt x="520217" y="156273"/>
                </a:lnTo>
                <a:lnTo>
                  <a:pt x="539927" y="197726"/>
                </a:lnTo>
                <a:lnTo>
                  <a:pt x="552297" y="242722"/>
                </a:lnTo>
                <a:lnTo>
                  <a:pt x="556602" y="290512"/>
                </a:lnTo>
                <a:lnTo>
                  <a:pt x="556602" y="176314"/>
                </a:lnTo>
                <a:lnTo>
                  <a:pt x="524840" y="119062"/>
                </a:lnTo>
                <a:lnTo>
                  <a:pt x="495795" y="85191"/>
                </a:lnTo>
                <a:lnTo>
                  <a:pt x="461937" y="56134"/>
                </a:lnTo>
                <a:lnTo>
                  <a:pt x="423887" y="32486"/>
                </a:lnTo>
                <a:lnTo>
                  <a:pt x="382231" y="14846"/>
                </a:lnTo>
                <a:lnTo>
                  <a:pt x="337566" y="3810"/>
                </a:lnTo>
                <a:lnTo>
                  <a:pt x="290512" y="0"/>
                </a:lnTo>
                <a:lnTo>
                  <a:pt x="243471" y="3810"/>
                </a:lnTo>
                <a:lnTo>
                  <a:pt x="198818" y="14846"/>
                </a:lnTo>
                <a:lnTo>
                  <a:pt x="157149" y="32486"/>
                </a:lnTo>
                <a:lnTo>
                  <a:pt x="119087" y="56134"/>
                </a:lnTo>
                <a:lnTo>
                  <a:pt x="85217" y="85191"/>
                </a:lnTo>
                <a:lnTo>
                  <a:pt x="56159" y="119062"/>
                </a:lnTo>
                <a:lnTo>
                  <a:pt x="32499" y="157124"/>
                </a:lnTo>
                <a:lnTo>
                  <a:pt x="14846" y="198793"/>
                </a:lnTo>
                <a:lnTo>
                  <a:pt x="3810" y="243459"/>
                </a:lnTo>
                <a:lnTo>
                  <a:pt x="0" y="290512"/>
                </a:lnTo>
                <a:lnTo>
                  <a:pt x="3810" y="337553"/>
                </a:lnTo>
                <a:lnTo>
                  <a:pt x="14833" y="382206"/>
                </a:lnTo>
                <a:lnTo>
                  <a:pt x="32473" y="423862"/>
                </a:lnTo>
                <a:lnTo>
                  <a:pt x="56121" y="461911"/>
                </a:lnTo>
                <a:lnTo>
                  <a:pt x="85178" y="495769"/>
                </a:lnTo>
                <a:lnTo>
                  <a:pt x="119049" y="524827"/>
                </a:lnTo>
                <a:lnTo>
                  <a:pt x="157111" y="548474"/>
                </a:lnTo>
                <a:lnTo>
                  <a:pt x="198780" y="566115"/>
                </a:lnTo>
                <a:lnTo>
                  <a:pt x="243446" y="577138"/>
                </a:lnTo>
                <a:lnTo>
                  <a:pt x="290512" y="580948"/>
                </a:lnTo>
                <a:lnTo>
                  <a:pt x="291503" y="580948"/>
                </a:lnTo>
                <a:lnTo>
                  <a:pt x="338543" y="577138"/>
                </a:lnTo>
                <a:lnTo>
                  <a:pt x="337870" y="577138"/>
                </a:lnTo>
                <a:lnTo>
                  <a:pt x="382524" y="566115"/>
                </a:lnTo>
                <a:lnTo>
                  <a:pt x="382384" y="566115"/>
                </a:lnTo>
                <a:lnTo>
                  <a:pt x="404647" y="556691"/>
                </a:lnTo>
                <a:lnTo>
                  <a:pt x="423976" y="548474"/>
                </a:lnTo>
                <a:lnTo>
                  <a:pt x="462000" y="524827"/>
                </a:lnTo>
                <a:lnTo>
                  <a:pt x="495820" y="495769"/>
                </a:lnTo>
                <a:lnTo>
                  <a:pt x="524865" y="461911"/>
                </a:lnTo>
                <a:lnTo>
                  <a:pt x="548487" y="423862"/>
                </a:lnTo>
                <a:lnTo>
                  <a:pt x="566115" y="382206"/>
                </a:lnTo>
                <a:lnTo>
                  <a:pt x="577138" y="337553"/>
                </a:lnTo>
                <a:lnTo>
                  <a:pt x="580936" y="290512"/>
                </a:lnTo>
                <a:close/>
              </a:path>
            </a:pathLst>
          </a:custGeom>
          <a:solidFill>
            <a:srgbClr val="363336"/>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134</TotalTime>
  <Words>1060</Words>
  <Application>Microsoft Office PowerPoint</Application>
  <PresentationFormat>Custom</PresentationFormat>
  <Paragraphs>138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Cambria</vt:lpstr>
      <vt:lpstr>Times New Roman</vt:lpstr>
      <vt:lpstr>Trebuchet MS</vt:lpstr>
      <vt:lpstr>Office Theme</vt:lpstr>
      <vt:lpstr>SUMMER SCHOOL'26 AI FIRST HACKATHON</vt:lpstr>
      <vt:lpstr>Millions of users become victims of phishing, QR-code fraud, fake job offers, and malicious websites because existing cybersecurity tools are often too complex and fail to provide clear, actionable guidance.</vt:lpstr>
      <vt:lpstr>CyberShield AI AI-Powered Digital Scam Detection &amp; Prevention Platform</vt:lpstr>
      <vt:lpstr>Innovation &amp; Technology</vt:lpstr>
      <vt:lpstr>From Prototype to Real-World Impact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AI_Hackathon_Pitch_Deck_Template</dc:title>
  <dc:creator>Narottam Kumar</dc:creator>
  <cp:keywords>DAHPvHxYQgM,BAGUq9GTb0A</cp:keywords>
  <cp:lastModifiedBy>Narottam Kumar</cp:lastModifiedBy>
  <cp:revision>1</cp:revision>
  <dcterms:created xsi:type="dcterms:W3CDTF">2026-07-19T13:24:29Z</dcterms:created>
  <dcterms:modified xsi:type="dcterms:W3CDTF">2026-07-19T15:38:55Z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2026-07-18T00:00:00Z</vt:filetime>
  </property>
  <property fmtid="{D5CDD505-2E9C-101B-9397-08002B2CF9AE}" pid="4" name="Creator">
    <vt:lpwstr>Canva</vt:lpwstr>
  </property>
  <property fmtid="{D5CDD505-2E9C-101B-9397-08002B2CF9AE}" pid="5" name="LastSaved">
    <vt:filetime>2026-07-19T00:00:00Z</vt:filetime>
  </property>
  <property fmtid="{D5CDD505-2E9C-101B-9397-08002B2CF9AE}" pid="6" name="Producer">
    <vt:lpwstr>Canva</vt:lpwstr>
  </property>
</Properties>
</file>